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eb53933d414fe8" /><Relationship Type="http://schemas.openxmlformats.org/officeDocument/2006/relationships/extended-properties" Target="/docProps/app.xml" Id="Rdcc5b15ff39945ae" /><Relationship Type="http://schemas.openxmlformats.org/officeDocument/2006/relationships/officeDocument" Target="/ppt/presentation.xml" Id="Rbf1dabbeda0c47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da44d8f9a24fd5"/>
  </p:sldMasterIdLst>
  <p:notesMasterIdLst>
    <p:notesMasterId xmlns:r="http://schemas.openxmlformats.org/officeDocument/2006/relationships" r:id="R4706742c31bd479f"/>
  </p:notesMasterIdLst>
  <p:sldIdLst>
    <p:sldId xmlns:r="http://schemas.openxmlformats.org/officeDocument/2006/relationships" id="256" r:id="R2c0b473687e1461e"/>
    <p:sldId xmlns:r="http://schemas.openxmlformats.org/officeDocument/2006/relationships" id="257" r:id="Rdef51f99825247ac"/>
    <p:sldId xmlns:r="http://schemas.openxmlformats.org/officeDocument/2006/relationships" id="258" r:id="R489c00cb49dd45bf"/>
    <p:sldId xmlns:r="http://schemas.openxmlformats.org/officeDocument/2006/relationships" id="259" r:id="R869f59484d6143c8"/>
    <p:sldId xmlns:r="http://schemas.openxmlformats.org/officeDocument/2006/relationships" id="260" r:id="Rc00c381fb7194068"/>
    <p:sldId xmlns:r="http://schemas.openxmlformats.org/officeDocument/2006/relationships" id="261" r:id="Rdb1b1f98fec14a4b"/>
    <p:sldId xmlns:r="http://schemas.openxmlformats.org/officeDocument/2006/relationships" id="262" r:id="Rf07ffb9ea2ec498b"/>
    <p:sldId xmlns:r="http://schemas.openxmlformats.org/officeDocument/2006/relationships" id="263" r:id="R7bd23edb519c484c"/>
    <p:sldId xmlns:r="http://schemas.openxmlformats.org/officeDocument/2006/relationships" id="264" r:id="Re0017dd2aad74fa4"/>
    <p:sldId xmlns:r="http://schemas.openxmlformats.org/officeDocument/2006/relationships" id="265" r:id="R245dcc400b4f432d"/>
    <p:sldId xmlns:r="http://schemas.openxmlformats.org/officeDocument/2006/relationships" id="266" r:id="Rf92987d1fd804918"/>
    <p:sldId xmlns:r="http://schemas.openxmlformats.org/officeDocument/2006/relationships" id="267" r:id="R5f8d508837b14a15"/>
    <p:sldId xmlns:r="http://schemas.openxmlformats.org/officeDocument/2006/relationships" id="268" r:id="Rda0ad0160c0840fc"/>
    <p:sldId xmlns:r="http://schemas.openxmlformats.org/officeDocument/2006/relationships" id="269" r:id="R61d921a8c9124134"/>
    <p:sldId xmlns:r="http://schemas.openxmlformats.org/officeDocument/2006/relationships" id="270" r:id="Re2732b33f9244d1c"/>
    <p:sldId xmlns:r="http://schemas.openxmlformats.org/officeDocument/2006/relationships" id="271" r:id="R404c64735b024520"/>
    <p:sldId xmlns:r="http://schemas.openxmlformats.org/officeDocument/2006/relationships" id="272" r:id="R758aa4f72288419d"/>
    <p:sldId xmlns:r="http://schemas.openxmlformats.org/officeDocument/2006/relationships" id="273" r:id="R3357eeda63754f6c"/>
    <p:sldId xmlns:r="http://schemas.openxmlformats.org/officeDocument/2006/relationships" id="274" r:id="Rd0fab02c902b4ba2"/>
    <p:sldId xmlns:r="http://schemas.openxmlformats.org/officeDocument/2006/relationships" id="275" r:id="Rcca97e5ccd694c25"/>
    <p:sldId xmlns:r="http://schemas.openxmlformats.org/officeDocument/2006/relationships" id="276" r:id="Rc286393aba004593"/>
    <p:sldId xmlns:r="http://schemas.openxmlformats.org/officeDocument/2006/relationships" id="277" r:id="R3938e9c9763a4771"/>
    <p:sldId xmlns:r="http://schemas.openxmlformats.org/officeDocument/2006/relationships" id="278" r:id="R386b6ee5173445b3"/>
    <p:sldId xmlns:r="http://schemas.openxmlformats.org/officeDocument/2006/relationships" id="279" r:id="R7179752b35ca4832"/>
    <p:sldId xmlns:r="http://schemas.openxmlformats.org/officeDocument/2006/relationships" id="280" r:id="R5f6c20b33623424a"/>
    <p:sldId xmlns:r="http://schemas.openxmlformats.org/officeDocument/2006/relationships" id="281" r:id="R44c6ab55e0074b10"/>
    <p:sldId xmlns:r="http://schemas.openxmlformats.org/officeDocument/2006/relationships" id="282" r:id="R2c534d7a11a84611"/>
    <p:sldId xmlns:r="http://schemas.openxmlformats.org/officeDocument/2006/relationships" id="283" r:id="Rc764a67219f441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4618a331844ff5" /><Relationship Type="http://schemas.openxmlformats.org/officeDocument/2006/relationships/slideMaster" Target="/ppt/slideMasters/slideMaster1.xml" Id="Rd1da44d8f9a24fd5" /><Relationship Type="http://schemas.openxmlformats.org/officeDocument/2006/relationships/notesMaster" Target="/ppt/notesMasters/notesMaster1.xml" Id="R4706742c31bd479f" /><Relationship Type="http://schemas.openxmlformats.org/officeDocument/2006/relationships/presProps" Target="/ppt/presProps.xml" Id="R42ea6f5d5bde4786" /><Relationship Type="http://schemas.openxmlformats.org/officeDocument/2006/relationships/tableStyles" Target="/ppt/tableStyles.xml" Id="Rc47562f875034d48" /><Relationship Type="http://schemas.openxmlformats.org/officeDocument/2006/relationships/slide" Target="/ppt/slides/slide1.xml" Id="R2c0b473687e1461e" /><Relationship Type="http://schemas.openxmlformats.org/officeDocument/2006/relationships/slide" Target="/ppt/slides/slide2.xml" Id="Rdef51f99825247ac" /><Relationship Type="http://schemas.openxmlformats.org/officeDocument/2006/relationships/slide" Target="/ppt/slides/slide3.xml" Id="R489c00cb49dd45bf" /><Relationship Type="http://schemas.openxmlformats.org/officeDocument/2006/relationships/slide" Target="/ppt/slides/slide4.xml" Id="R869f59484d6143c8" /><Relationship Type="http://schemas.openxmlformats.org/officeDocument/2006/relationships/slide" Target="/ppt/slides/slide5.xml" Id="Rc00c381fb7194068" /><Relationship Type="http://schemas.openxmlformats.org/officeDocument/2006/relationships/slide" Target="/ppt/slides/slide6.xml" Id="Rdb1b1f98fec14a4b" /><Relationship Type="http://schemas.openxmlformats.org/officeDocument/2006/relationships/slide" Target="/ppt/slides/slide7.xml" Id="Rf07ffb9ea2ec498b" /><Relationship Type="http://schemas.openxmlformats.org/officeDocument/2006/relationships/slide" Target="/ppt/slides/slide8.xml" Id="R7bd23edb519c484c" /><Relationship Type="http://schemas.openxmlformats.org/officeDocument/2006/relationships/slide" Target="/ppt/slides/slide9.xml" Id="Re0017dd2aad74fa4" /><Relationship Type="http://schemas.openxmlformats.org/officeDocument/2006/relationships/slide" Target="/ppt/slides/slide10.xml" Id="R245dcc400b4f432d" /><Relationship Type="http://schemas.openxmlformats.org/officeDocument/2006/relationships/slide" Target="/ppt/slides/slide11.xml" Id="Rf92987d1fd804918" /><Relationship Type="http://schemas.openxmlformats.org/officeDocument/2006/relationships/slide" Target="/ppt/slides/slide12.xml" Id="R5f8d508837b14a15" /><Relationship Type="http://schemas.openxmlformats.org/officeDocument/2006/relationships/slide" Target="/ppt/slides/slide13.xml" Id="Rda0ad0160c0840fc" /><Relationship Type="http://schemas.openxmlformats.org/officeDocument/2006/relationships/slide" Target="/ppt/slides/slide14.xml" Id="R61d921a8c9124134" /><Relationship Type="http://schemas.openxmlformats.org/officeDocument/2006/relationships/slide" Target="/ppt/slides/slide15.xml" Id="Re2732b33f9244d1c" /><Relationship Type="http://schemas.openxmlformats.org/officeDocument/2006/relationships/slide" Target="/ppt/slides/slide16.xml" Id="R404c64735b024520" /><Relationship Type="http://schemas.openxmlformats.org/officeDocument/2006/relationships/slide" Target="/ppt/slides/slide17.xml" Id="R758aa4f72288419d" /><Relationship Type="http://schemas.openxmlformats.org/officeDocument/2006/relationships/slide" Target="/ppt/slides/slide18.xml" Id="R3357eeda63754f6c" /><Relationship Type="http://schemas.openxmlformats.org/officeDocument/2006/relationships/slide" Target="/ppt/slides/slide19.xml" Id="Rd0fab02c902b4ba2" /><Relationship Type="http://schemas.openxmlformats.org/officeDocument/2006/relationships/slide" Target="/ppt/slides/slide20.xml" Id="Rcca97e5ccd694c25" /><Relationship Type="http://schemas.openxmlformats.org/officeDocument/2006/relationships/slide" Target="/ppt/slides/slide21.xml" Id="Rc286393aba004593" /><Relationship Type="http://schemas.openxmlformats.org/officeDocument/2006/relationships/slide" Target="/ppt/slides/slide22.xml" Id="R3938e9c9763a4771" /><Relationship Type="http://schemas.openxmlformats.org/officeDocument/2006/relationships/slide" Target="/ppt/slides/slide23.xml" Id="R386b6ee5173445b3" /><Relationship Type="http://schemas.openxmlformats.org/officeDocument/2006/relationships/slide" Target="/ppt/slides/slide24.xml" Id="R7179752b35ca4832" /><Relationship Type="http://schemas.openxmlformats.org/officeDocument/2006/relationships/slide" Target="/ppt/slides/slide25.xml" Id="R5f6c20b33623424a" /><Relationship Type="http://schemas.openxmlformats.org/officeDocument/2006/relationships/slide" Target="/ppt/slides/slide26.xml" Id="R44c6ab55e0074b10" /><Relationship Type="http://schemas.openxmlformats.org/officeDocument/2006/relationships/slide" Target="/ppt/slides/slide27.xml" Id="R2c534d7a11a84611" /><Relationship Type="http://schemas.openxmlformats.org/officeDocument/2006/relationships/slide" Target="/ppt/slides/slide28.xml" Id="Rc764a67219f441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a86ee9911e49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10abc0c7c44d30" /><Relationship Type="http://schemas.openxmlformats.org/officeDocument/2006/relationships/notesMaster" Target="/ppt/notesMasters/notesMaster1.xml" Id="R655d93e5d4eb40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29ea3822744282" /><Relationship Type="http://schemas.openxmlformats.org/officeDocument/2006/relationships/notesMaster" Target="/ppt/notesMasters/notesMaster1.xml" Id="Rddb2b53709e44e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54432b30ae4be6" /><Relationship Type="http://schemas.openxmlformats.org/officeDocument/2006/relationships/notesMaster" Target="/ppt/notesMasters/notesMaster1.xml" Id="R996bd604c0af4a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111afcd0049fd" /><Relationship Type="http://schemas.openxmlformats.org/officeDocument/2006/relationships/notesMaster" Target="/ppt/notesMasters/notesMaster1.xml" Id="R42457487d32f4c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0c7477ed814c0c" /><Relationship Type="http://schemas.openxmlformats.org/officeDocument/2006/relationships/notesMaster" Target="/ppt/notesMasters/notesMaster1.xml" Id="R3277a33b78a541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587b21ddd64468" /><Relationship Type="http://schemas.openxmlformats.org/officeDocument/2006/relationships/notesMaster" Target="/ppt/notesMasters/notesMaster1.xml" Id="Re8fdc8f25d8c44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e1244b1d5c4cb5" /><Relationship Type="http://schemas.openxmlformats.org/officeDocument/2006/relationships/notesMaster" Target="/ppt/notesMasters/notesMaster1.xml" Id="Rd61f1ea8d22240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cff2d42fe84079" /><Relationship Type="http://schemas.openxmlformats.org/officeDocument/2006/relationships/notesMaster" Target="/ppt/notesMasters/notesMaster1.xml" Id="Rf4b0b0917fe047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cbd234ddfe49c6" /><Relationship Type="http://schemas.openxmlformats.org/officeDocument/2006/relationships/notesMaster" Target="/ppt/notesMasters/notesMaster1.xml" Id="R6ea7fff2af8f47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ff68a1098044ca" /><Relationship Type="http://schemas.openxmlformats.org/officeDocument/2006/relationships/notesMaster" Target="/ppt/notesMasters/notesMaster1.xml" Id="Reec1085396d24f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27ce83af054433" /><Relationship Type="http://schemas.openxmlformats.org/officeDocument/2006/relationships/notesMaster" Target="/ppt/notesMasters/notesMaster1.xml" Id="R1f14a4018d4a47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ad52b150094e8c" /><Relationship Type="http://schemas.openxmlformats.org/officeDocument/2006/relationships/notesMaster" Target="/ppt/notesMasters/notesMaster1.xml" Id="R6dff27869e1b44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743904f5a141c3" /><Relationship Type="http://schemas.openxmlformats.org/officeDocument/2006/relationships/notesMaster" Target="/ppt/notesMasters/notesMaster1.xml" Id="R5f7450c9517743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a50015b79f14b6c" /><Relationship Type="http://schemas.openxmlformats.org/officeDocument/2006/relationships/notesMaster" Target="/ppt/notesMasters/notesMaster1.xml" Id="R8446765775e841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f7e0b4368b49d2" /><Relationship Type="http://schemas.openxmlformats.org/officeDocument/2006/relationships/notesMaster" Target="/ppt/notesMasters/notesMaster1.xml" Id="Rfe1fb289a0a14e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c9830ceaf34bd4" /><Relationship Type="http://schemas.openxmlformats.org/officeDocument/2006/relationships/notesMaster" Target="/ppt/notesMasters/notesMaster1.xml" Id="Re71abc3baca44e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6b04a6d7d24202" /><Relationship Type="http://schemas.openxmlformats.org/officeDocument/2006/relationships/notesMaster" Target="/ppt/notesMasters/notesMaster1.xml" Id="R67d73d34a86c4f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fa80b6dcad042c1" /><Relationship Type="http://schemas.openxmlformats.org/officeDocument/2006/relationships/notesMaster" Target="/ppt/notesMasters/notesMaster1.xml" Id="R9a4350122aa949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15da08eddf94281" /><Relationship Type="http://schemas.openxmlformats.org/officeDocument/2006/relationships/notesMaster" Target="/ppt/notesMasters/notesMaster1.xml" Id="Re802362ab0b340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c088cc00fd4e11" /><Relationship Type="http://schemas.openxmlformats.org/officeDocument/2006/relationships/notesMaster" Target="/ppt/notesMasters/notesMaster1.xml" Id="R9796ef3e24d14ed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b9d246b421742bf" /><Relationship Type="http://schemas.openxmlformats.org/officeDocument/2006/relationships/notesMaster" Target="/ppt/notesMasters/notesMaster1.xml" Id="R4504597236f740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1f6b961b4f4ca5" /><Relationship Type="http://schemas.openxmlformats.org/officeDocument/2006/relationships/notesMaster" Target="/ppt/notesMasters/notesMaster1.xml" Id="R3482c5b434d8475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9178d3133c64285" /><Relationship Type="http://schemas.openxmlformats.org/officeDocument/2006/relationships/notesMaster" Target="/ppt/notesMasters/notesMaster1.xml" Id="R26ac161b6fd9437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3d9a2fedf28411b" /><Relationship Type="http://schemas.openxmlformats.org/officeDocument/2006/relationships/notesMaster" Target="/ppt/notesMasters/notesMaster1.xml" Id="R07c5f7d499604d2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0a988ca2c5846f8" /><Relationship Type="http://schemas.openxmlformats.org/officeDocument/2006/relationships/notesMaster" Target="/ppt/notesMasters/notesMaster1.xml" Id="Rd5fa3b54fc1048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240782a6bba43f1" /><Relationship Type="http://schemas.openxmlformats.org/officeDocument/2006/relationships/notesMaster" Target="/ppt/notesMasters/notesMaster1.xml" Id="R17a11a7a2a5740e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301a6497a34116" /><Relationship Type="http://schemas.openxmlformats.org/officeDocument/2006/relationships/notesMaster" Target="/ppt/notesMasters/notesMaster1.xml" Id="R23b756a4262b418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66bb56c17849f5" /><Relationship Type="http://schemas.openxmlformats.org/officeDocument/2006/relationships/notesMaster" Target="/ppt/notesMasters/notesMaster1.xml" Id="R736de1ed751c4c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c829ccd33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d78fb77e5943c1" /><Relationship Type="http://schemas.openxmlformats.org/officeDocument/2006/relationships/slideLayout" Target="/ppt/slideLayouts/slideLayout1.xml" Id="R31c109c863244a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c109c863244a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d6f96919d479a" /><Relationship Type="http://schemas.openxmlformats.org/officeDocument/2006/relationships/notesSlide" Target="/ppt/notesSlides/notesSlide1.xml" Id="Rd93168ed810549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28e84275c46db" /><Relationship Type="http://schemas.openxmlformats.org/officeDocument/2006/relationships/image" Target="/ppt/media/image.png" Id="R683d03ab73334999" /><Relationship Type="http://schemas.openxmlformats.org/officeDocument/2006/relationships/notesSlide" Target="/ppt/notesSlides/notesSlide2.xml" Id="Re7b182e2ab5245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2e2a528b24a81" /><Relationship Type="http://schemas.openxmlformats.org/officeDocument/2006/relationships/notesSlide" Target="/ppt/notesSlides/notesSlide3.xml" Id="R3639be3135484d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f9249ea2943e5" /><Relationship Type="http://schemas.openxmlformats.org/officeDocument/2006/relationships/notesSlide" Target="/ppt/notesSlides/notesSlide4.xml" Id="Re9bdc2b6df804b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70793bf034e1d" /><Relationship Type="http://schemas.openxmlformats.org/officeDocument/2006/relationships/notesSlide" Target="/ppt/notesSlides/notesSlide5.xml" Id="R342a5161680a45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1cff8a34049de" /><Relationship Type="http://schemas.openxmlformats.org/officeDocument/2006/relationships/notesSlide" Target="/ppt/notesSlides/notesSlide6.xml" Id="Rb981af8bfb6e4e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19d162dc847da" /><Relationship Type="http://schemas.openxmlformats.org/officeDocument/2006/relationships/notesSlide" Target="/ppt/notesSlides/notesSlide7.xml" Id="R2ed17926ede54b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fa1908ea74348" /><Relationship Type="http://schemas.openxmlformats.org/officeDocument/2006/relationships/notesSlide" Target="/ppt/notesSlides/notesSlide8.xml" Id="R5e88e40a89324d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488bf5d674073" /><Relationship Type="http://schemas.openxmlformats.org/officeDocument/2006/relationships/notesSlide" Target="/ppt/notesSlides/notesSlide9.xml" Id="R85579a5e0f0347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f9c1e75b248fa" /><Relationship Type="http://schemas.openxmlformats.org/officeDocument/2006/relationships/notesSlide" Target="/ppt/notesSlides/notesSlide10.xml" Id="Rd9095444a41441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cd96366f3484f" /><Relationship Type="http://schemas.openxmlformats.org/officeDocument/2006/relationships/notesSlide" Target="/ppt/notesSlides/notesSlide11.xml" Id="R10d1c513f55e4f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9f602a3b04591" /><Relationship Type="http://schemas.openxmlformats.org/officeDocument/2006/relationships/notesSlide" Target="/ppt/notesSlides/notesSlide12.xml" Id="R33cd092d6e6846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6c500d0be4341" /><Relationship Type="http://schemas.openxmlformats.org/officeDocument/2006/relationships/notesSlide" Target="/ppt/notesSlides/notesSlide13.xml" Id="R1705d584c80749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b75c1c39f4510" /><Relationship Type="http://schemas.openxmlformats.org/officeDocument/2006/relationships/notesSlide" Target="/ppt/notesSlides/notesSlide14.xml" Id="R61e31fef0a5a42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fd237a55d441f" /><Relationship Type="http://schemas.openxmlformats.org/officeDocument/2006/relationships/notesSlide" Target="/ppt/notesSlides/notesSlide15.xml" Id="R9befe8ecdca14c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7944ff6fd4307" /><Relationship Type="http://schemas.openxmlformats.org/officeDocument/2006/relationships/notesSlide" Target="/ppt/notesSlides/notesSlide16.xml" Id="Rfdd0d7631e3545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8b347ff124f39" /><Relationship Type="http://schemas.openxmlformats.org/officeDocument/2006/relationships/notesSlide" Target="/ppt/notesSlides/notesSlide17.xml" Id="R67be2739517047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b3fe738234ed2" /><Relationship Type="http://schemas.openxmlformats.org/officeDocument/2006/relationships/notesSlide" Target="/ppt/notesSlides/notesSlide18.xml" Id="R1f2b208fa1a047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8289862514e1b" /><Relationship Type="http://schemas.openxmlformats.org/officeDocument/2006/relationships/notesSlide" Target="/ppt/notesSlides/notesSlide19.xml" Id="Rfaf5af00d1784b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e6106f04849bc" /><Relationship Type="http://schemas.openxmlformats.org/officeDocument/2006/relationships/notesSlide" Target="/ppt/notesSlides/notesSlide20.xml" Id="Ra60b6db7671d4f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8167e64ad48b6" /><Relationship Type="http://schemas.openxmlformats.org/officeDocument/2006/relationships/notesSlide" Target="/ppt/notesSlides/notesSlide21.xml" Id="R3f9391a68a5647e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1521762114ef9" /><Relationship Type="http://schemas.openxmlformats.org/officeDocument/2006/relationships/notesSlide" Target="/ppt/notesSlides/notesSlide22.xml" Id="Ra1c5bf4bc29f4c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ebc0f367e46fa" /><Relationship Type="http://schemas.openxmlformats.org/officeDocument/2006/relationships/notesSlide" Target="/ppt/notesSlides/notesSlide23.xml" Id="Rcc50a7f43a78461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6cc69b0dc4ba5" /><Relationship Type="http://schemas.openxmlformats.org/officeDocument/2006/relationships/notesSlide" Target="/ppt/notesSlides/notesSlide24.xml" Id="R90fd03e52f8a439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b5c324cde4006" /><Relationship Type="http://schemas.openxmlformats.org/officeDocument/2006/relationships/notesSlide" Target="/ppt/notesSlides/notesSlide25.xml" Id="R5ad1b04ba8884ed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05435f1424b5a" /><Relationship Type="http://schemas.openxmlformats.org/officeDocument/2006/relationships/notesSlide" Target="/ppt/notesSlides/notesSlide26.xml" Id="R1db12f23e1814b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5168309bc466a" /><Relationship Type="http://schemas.openxmlformats.org/officeDocument/2006/relationships/notesSlide" Target="/ppt/notesSlides/notesSlide27.xml" Id="R44cdd9f6b7334f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5cb768b4f4beb" /><Relationship Type="http://schemas.openxmlformats.org/officeDocument/2006/relationships/notesSlide" Target="/ppt/notesSlides/notesSlide28.xml" Id="R6e41824d98864c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1AD46-D6E8-4685-B037-1460B9B4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77AD3-4F0E-47C4-9EB0-DF1EC01C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D5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5D5D7"/>
                </a:solidFill>
                <a:latin typeface="Helvetica Neue"/>
                <a:ea typeface="Helvetica Neue"/>
                <a:cs typeface="Helvetica Neue"/>
              </a:rPr>
              <a:t>MONGODB · HOTEL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BCB3-3D4D-42FE-8586-D4D411E8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Exercícios</a:t>
            </a:r>
          </a:p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MongoDB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10347-775A-4FFF-A642-3217847C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1D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1DEE4"/>
                </a:solidFill>
                <a:latin typeface="Helvetica Neue"/>
                <a:ea typeface="Helvetica Neue"/>
                <a:cs typeface="Helvetica Neue"/>
              </a:rPr>
              <a:t>Do modelo relacional a documentos embebidos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3B7F2-4381-45FA-B307-21513299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</p:spTree>
    <p:extLst>
      <p:ext uri="{BB962C8B-B14F-4D97-AF65-F5344CB8AC3E}">
        <p14:creationId xmlns:p14="http://schemas.microsoft.com/office/powerpoint/2010/main" val="1740201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7BE17-893C-4206-B4F9-BC996AA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87AF3-A222-47EA-A1A4-D82AEDA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O PONTO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3B6CD-42AE-476A-8205-A960AB2B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A base de dados relacional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A8FC3-88E7-4587-80E1-88706FA1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D1F5C-08FE-455B-A543-3769013A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No modelo relacional, a informação encontra-se distribuída por oito tabelas. As chaves estrangeiras permitem reconstruir hotéis, quartos, clientes, reservas e faturas.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d03ab73334999"/>
          <a:stretch xmlns:a="http://schemas.openxmlformats.org/drawingml/2006/main"/>
        </p:blipFill>
        <p:spPr>
          <a:xfrm xmlns:a="http://schemas.openxmlformats.org/drawingml/2006/main">
            <a:off x="3152023" y="2190750"/>
            <a:ext cx="5887954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25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1FC3A-A5CB-4B83-AEE7-49A7537C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540E0-2D52-47CF-9E79-581F5419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UMA ÚNICA COLEÇÃO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DE97C-745D-45B0-9818-C8E3C260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A coleção hotel aceita dois tipos de documentos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5583D-659B-4E6A-A10F-5601CC12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5D1BF-740C-4718-AA99-01D88D56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tipo: "hotel"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45B86-A608-4592-947F-E3696F6B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Contém os quartos e as reservas. Cada reserva contém o cliente, os quartos usados e as faturas.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70086-C760-4224-85C0-F38F71CD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tipo: "cliente"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5A15E-2141-46E6-9E98-C19CC98B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Todos os clientes têm um documento autónomo, mesmo quando também aparecem embebidos nas reservas.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7244C-9EBA-4C52-9A02-87C31D12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3"/>
          </a:solidFill>
          <a:ln xmlns:a="http://schemas.openxmlformats.org/drawingml/2006/main" w="19050">
            <a:solidFill>
              <a:srgbClr val="65D5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789F7-D737-459E-813D-C40C34B5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53000"/>
            <a:ext cx="842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Uma coleção pode guardar documentos com estruturas diferentes. O campo tipo permite distingui-los.</a:t>
            </a:r>
          </a:p>
        </p:txBody>
      </p:sp>
    </p:spTree>
    <p:extLst>
      <p:ext uri="{BB962C8B-B14F-4D97-AF65-F5344CB8AC3E}">
        <p14:creationId xmlns:p14="http://schemas.microsoft.com/office/powerpoint/2010/main" val="730714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7F0C1-D9C7-4D5F-962F-2D6B882E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9DEDD-E89D-4224-AB1E-5B4DA76D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DOCUMENTO EMBEBIDO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DC4E5-7753-4721-98BC-6855F745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Exemplo de um documento de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7C00D-D28D-4CD6-A3E8-E82A717C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54E77-BA3A-40DC-83B3-B30358C0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F444D-6815-482E-982E-9407E8E5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0225"/>
            <a:ext cx="1047750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{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_id: "hotel:RM", tipo: "hotel", sigla: "RM", designacao: "Roma",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quartos: [{ numero: 1, camas: 2, preco: 10 }, { numero: 2, camas: 3, preco: 25 }],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reservas: [{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numero: 12, entrada: ISODate("2012-08-13"), saida: ISODate("2012-08-14"),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cliente: { numero: 4, nome: "ONU", organizacao: { ramo: "Internacional", contacto: "Evaristo" } },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quartos: [{ numero: 1, pessoas: 1, camaExtra: null }],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facturas: [{ numero: 7, data: ISODate("2012-11-18"), valor: 400 }]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}]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8395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06FAD-A15B-494E-B688-D2E94B27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017C0-BA7E-4320-B768-148F6728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DOCUMENTO AUTÓNOMO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E7853-D4AB-4FF7-8168-41DFADBC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Exemplo de um documento de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5FE19-6920-44C8-AA49-8D218D7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62853-6362-475F-8379-29E15E52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9144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131EC-52A0-48FF-837B-6A33DC76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0225"/>
            <a:ext cx="876300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{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_id: "cliente:4", tipo: "cliente", numero: 4, nome: "ONU",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organizacao: { ramo: "Internacional", contacto: "Evaristo" },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reservas: [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numero: 1, hotel: "SH" },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numero: 2, hotel: "AL" },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numero: 6, hotel: "AL" },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 { numero: 10, hotel: "LS" }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]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12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DADFC-4C05-4B20-B20E-CD23E4B8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06B83-2658-4F11-9849-8ECB2490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CLIENTES E RESERVAS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C7EC0-63EF-476E-9F05-23FF35C6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Todos os clientes são documentos autónomos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88DB8-CD67-4A8D-B90C-27725A25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0204C-8611-4818-83CE-02EFB33D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Ana, ISCTE, Pedro, ONU e todos os restantes clientes têm o seu próprio documento. Quando um cliente faz uma reserva, parte dos seus dados também fica embebida nessa reserva.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5F22D-4A3A-4A53-BBEC-127DCD29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3"/>
          </a:solidFill>
          <a:ln xmlns:a="http://schemas.openxmlformats.org/drawingml/2006/main" w="19050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0DDCE-CBE4-4C13-B1E6-4347AA04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0"/>
            <a:ext cx="9563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O documento autónomo representa o cliente enquanto entidade. A cópia embebida permite consultar a reserva sem procurar o cliente noutro documento.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D3DDA-F239-4458-89B3-C1C0DD5D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90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7"/>
          </a:solidFill>
          <a:ln xmlns:a="http://schemas.openxmlformats.org/drawingml/2006/main" w="19050">
            <a:solidFill>
              <a:srgbClr val="F0B44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E6BFA-377D-4A3C-98FA-22E2026A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14875"/>
            <a:ext cx="9563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Sem documentos autónomos, NASA e Continente desapareceriam porque não têm reservas. Não seria possível incluí-los nas consultas.</a:t>
            </a:r>
          </a:p>
        </p:txBody>
      </p:sp>
    </p:spTree>
    <p:extLst>
      <p:ext uri="{BB962C8B-B14F-4D97-AF65-F5344CB8AC3E}">
        <p14:creationId xmlns:p14="http://schemas.microsoft.com/office/powerpoint/2010/main" val="1603741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DA05D-B154-4C92-B3F0-E03A6A5C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E622E-316F-4818-AED2-DD7B8AD6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DESNORMALIZAÇÃO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4A5F6-BF9E-41EB-9608-6FE0C301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A duplicação é deliberada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4D27E-7135-483C-BAA3-3AF16296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4EB1E-0DFB-4E92-AAC8-54130BD3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Cliente com reservas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80B49-06C6-4463-9828-8AFF34A2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Aparece uma vez como documento autónomo e novamente, de forma embebida, em cada reserva que efetuou.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721A2-3BD3-4C0F-9424-967FFD2B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Cliente sem reservas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0CFFD-3B83-4EC0-B629-C980AE7D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Aparece apenas como documento autónomo.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6A6C5-569E-4397-93B1-58D7C700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7"/>
          </a:solidFill>
          <a:ln xmlns:a="http://schemas.openxmlformats.org/drawingml/2006/main" w="19050">
            <a:solidFill>
              <a:srgbClr val="F0B44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D50EF-F6F2-4BED-84B1-3D953318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8801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A duplicação simplifica consultas, mas a aplicação tem de manter as cópias coerentes quando os dados mudam.</a:t>
            </a:r>
          </a:p>
        </p:txBody>
      </p:sp>
    </p:spTree>
    <p:extLst>
      <p:ext uri="{BB962C8B-B14F-4D97-AF65-F5344CB8AC3E}">
        <p14:creationId xmlns:p14="http://schemas.microsoft.com/office/powerpoint/2010/main" val="1399566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C5B18-398E-46C9-9078-6FBCF624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FED75-49C9-4CB5-932D-4F9C0BF9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D7449-BBB4-49EA-BC8C-1ED71E8D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 nome de todos os clientes por ordem alfabética decrescente.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DE2A5-8B10-4665-AE8D-58798CD2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97528-2CB0-482E-AC6B-F19287BC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47B71-7703-4F73-B38B-92258D80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98749-EC34-4128-A6C5-755F247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TAP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Sofia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Pedro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ONU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NASA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Luisa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Luis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ISCTE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Continente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Carlos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Antonio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Ana</a:t>
            </a:r>
          </a:p>
        </p:txBody>
      </p:sp>
    </p:spTree>
    <p:extLst>
      <p:ext uri="{BB962C8B-B14F-4D97-AF65-F5344CB8AC3E}">
        <p14:creationId xmlns:p14="http://schemas.microsoft.com/office/powerpoint/2010/main" val="2582763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2CE67-E0FB-4A31-8E4E-364CA87C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038C4-593D-46F6-842A-1A23A5DA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01 · RESOLUÇÃO VISÍVEL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E61CD-05E8-4AE6-8E39-9A6CBD1F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Ordenação dos nomes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3B330-BB94-4011-8D23-E1DC653C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8F104-DE3E-41EC-99C0-23F713D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81E7C-3EF8-4B0D-BAD1-70D44780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85975"/>
            <a:ext cx="952500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db.hotel.find(</a:t>
            </a:r>
          </a:p>
          <a:p xmlns:a="http://schemas.openxmlformats.org/drawingml/2006/main">
            <a:pPr>
              <a:defRPr sz="172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{ tipo: "cliente" },</a:t>
            </a:r>
          </a:p>
          <a:p xmlns:a="http://schemas.openxmlformats.org/drawingml/2006/main">
            <a:pPr>
              <a:defRPr sz="172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{ _id: 0, nome: 1 }</a:t>
            </a:r>
          </a:p>
          <a:p xmlns:a="http://schemas.openxmlformats.org/drawingml/2006/main">
            <a:pPr>
              <a:defRPr sz="172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).sort({ nome: -1 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43F5B-F644-4A10-BDA5-2F03C67B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3"/>
          </a:solidFill>
          <a:ln xmlns:a="http://schemas.openxmlformats.org/drawingml/2006/main" w="19050">
            <a:solidFill>
              <a:srgbClr val="65D5D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C14AE-3B63-4526-9835-D3BCF7A2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53000"/>
            <a:ext cx="765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O valor -1 ordena o nome por ordem decrescente.</a:t>
            </a:r>
          </a:p>
        </p:txBody>
      </p:sp>
    </p:spTree>
    <p:extLst>
      <p:ext uri="{BB962C8B-B14F-4D97-AF65-F5344CB8AC3E}">
        <p14:creationId xmlns:p14="http://schemas.microsoft.com/office/powerpoint/2010/main" val="1365676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D0A92-0D98-4072-982F-A608DCFF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FA21A-87BB-4BF1-BF23-30D67F2A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24CF7-E5C1-4047-8E89-F8509668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 número dos quartos do hotel cuja sigla é 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CCE33-B454-4F62-96B1-D7C46E73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56570-4D03-4DFD-B1B1-73EDAF0D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B0F65-BB35-476A-B7B7-23683A15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38736-914A-4832-A9E9-BD94CDE1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numeroQuarto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8225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229A3-C130-470D-89A9-C40DD122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C9C04-2C9D-4C02-A95D-6B01E388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02 · RESOLUÇÃO VISÍVEL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73AED-7E40-4C42-BB68-482F8A97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Transformar o array de quartos em linhas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A9E82-FB76-4612-9AB6-2336C9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F6C8C-5D8C-4B22-AC82-81B0AB71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4BCA6-3464-4395-9AE9-4812831D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0225"/>
            <a:ext cx="104775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db.hotel.aggregate([</a:t>
            </a:r>
          </a:p>
          <a:p xmlns:a="http://schemas.openxmlformats.org/drawingml/2006/main">
            <a:pPr>
              <a:def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{ $match: { tipo: "hotel", sigla: "RM" } },</a:t>
            </a:r>
          </a:p>
          <a:p xmlns:a="http://schemas.openxmlformats.org/drawingml/2006/main">
            <a:pPr>
              <a:def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{ $unwind: "$quartos" },</a:t>
            </a:r>
          </a:p>
          <a:p xmlns:a="http://schemas.openxmlformats.org/drawingml/2006/main">
            <a:pPr>
              <a:def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{ $project: { _id: 0, numeroQuarto: "$quartos.numero" } },</a:t>
            </a:r>
          </a:p>
          <a:p xmlns:a="http://schemas.openxmlformats.org/drawingml/2006/main">
            <a:pPr>
              <a:def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 { $sort: { numeroQuarto: 1 } }</a:t>
            </a:r>
          </a:p>
          <a:p xmlns:a="http://schemas.openxmlformats.org/drawingml/2006/main">
            <a:pPr>
              <a:def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7BE24-6466-411C-8536-CBE52E06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3"/>
          </a:solidFill>
          <a:ln xmlns:a="http://schemas.openxmlformats.org/drawingml/2006/main" w="19050">
            <a:solidFill>
              <a:srgbClr val="65D5D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075E5-B998-4601-B128-D4305C77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975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62D"/>
                </a:solidFill>
                <a:latin typeface="Helvetica Neue"/>
                <a:ea typeface="Helvetica Neue"/>
                <a:cs typeface="Helvetica Neue"/>
              </a:rPr>
              <a:t>$match seleciona o hotel Roma. $unwind produz um documento da pipeline por cada elemento do array quartos. $project consegue então devolver uma linha por quarto.</a:t>
            </a:r>
          </a:p>
        </p:txBody>
      </p:sp>
    </p:spTree>
    <p:extLst>
      <p:ext uri="{BB962C8B-B14F-4D97-AF65-F5344CB8AC3E}">
        <p14:creationId xmlns:p14="http://schemas.microsoft.com/office/powerpoint/2010/main" val="20490295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C64B9-1C35-47D2-A78B-21D806F9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FB569-16E6-4E44-9BFC-2D306455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C5A2E-257F-403E-8C77-FD11E270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Quantos hotéis existem na coleção?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D54CF-2677-4367-A855-EA78E984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7CD8B-BE15-4BB9-B332-08CEE292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1BDF8-354D-4FAB-9046-AC4A6548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9E7D1-4227-47E5-A9D1-A0F64C5A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totalHoteis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12692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3F1C1-FE59-4E4A-8B03-07511DD3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ACC76-20CF-4B1D-9324-8CBD591F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DD6E8-9D2A-4EF7-B750-3C912556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Quantos quartos tem o hotel Majestic (MJ) e quantas camas têm, usando apenas um comando?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3C356-0DA1-44BB-BAB0-3CD0DD37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562E6-7CB6-44B6-AE8D-183C7CB0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8D9FC-6C1D-4E21-9AE0-4F436F95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DA8ED-1AAE-49F1-9D5B-14478B98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totalQuartos | totalCamas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4            | 10</a:t>
            </a:r>
          </a:p>
        </p:txBody>
      </p:sp>
    </p:spTree>
    <p:extLst>
      <p:ext uri="{BB962C8B-B14F-4D97-AF65-F5344CB8AC3E}">
        <p14:creationId xmlns:p14="http://schemas.microsoft.com/office/powerpoint/2010/main" val="16913715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BA0D8-2199-4A95-BF87-09CB68D8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05A8E-9489-4698-9333-80C478B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E24B6-A7B3-4682-9B30-937E3E44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 nome de todos os clientes individuais.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A7671-7A45-459D-8380-EBF2C37F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5B29D-32D6-4585-917E-F3665DBD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98944-4A37-406C-A912-69907301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FD186-88AB-4A11-BCD8-0B49648D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Ana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Pedro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Luis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Carlos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Sofia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Luisa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Antonio</a:t>
            </a:r>
          </a:p>
        </p:txBody>
      </p:sp>
    </p:spTree>
    <p:extLst>
      <p:ext uri="{BB962C8B-B14F-4D97-AF65-F5344CB8AC3E}">
        <p14:creationId xmlns:p14="http://schemas.microsoft.com/office/powerpoint/2010/main" val="1193341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266C6-4A9C-482E-821D-D884CC4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24DA5-700B-4D04-BF8C-D1A9E670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3767B-97B8-44CB-A82A-8554163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 nome das organizações que trabalham no ramo Alimentar.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86471-31C3-4C8D-AC01-FE5743B4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52C28-CB6A-4F69-87A2-48D70429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D156E-F201-4DE7-8E7B-B47B0B58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36B14-31D3-4E4B-B4E5-FCBA2D12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Continente</a:t>
            </a:r>
          </a:p>
        </p:txBody>
      </p:sp>
    </p:spTree>
    <p:extLst>
      <p:ext uri="{BB962C8B-B14F-4D97-AF65-F5344CB8AC3E}">
        <p14:creationId xmlns:p14="http://schemas.microsoft.com/office/powerpoint/2010/main" val="20560838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4B548-4760-46AA-8F81-4C20D358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21178-F107-4EBA-9ECA-2370111E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95146-E42E-4599-B825-CD62FEBF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Quais são os clientes individuais que não têm BI?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C3827-F16A-4C42-9C3D-F5499E50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F19D4-F1B1-4E01-A38F-271319B8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55F91-61EC-4F00-828D-397B18C6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0F3FA-F590-4A71-8C46-430AA7C2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Luisa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Antonio</a:t>
            </a:r>
          </a:p>
        </p:txBody>
      </p:sp>
    </p:spTree>
    <p:extLst>
      <p:ext uri="{BB962C8B-B14F-4D97-AF65-F5344CB8AC3E}">
        <p14:creationId xmlns:p14="http://schemas.microsoft.com/office/powerpoint/2010/main" val="16739110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FA59F-4861-42DA-A8C3-FD2FBE6C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C3999-9665-4ECF-8B34-C801E1F5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BDBCC-2703-44EB-867B-5AF58451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Quais são os hotéis com reservas em que pelo menos um quarto está afeto a mais de duas pessoas?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B3254-C1E7-4944-89F9-3A06D812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D1EC7-3855-49C1-996F-84C45A99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412CD-817B-42AF-8A2E-51B159A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DD777-4D34-4F48-BB67-715716F3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Lisboa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Roma</a:t>
            </a:r>
          </a:p>
        </p:txBody>
      </p:sp>
    </p:spTree>
    <p:extLst>
      <p:ext uri="{BB962C8B-B14F-4D97-AF65-F5344CB8AC3E}">
        <p14:creationId xmlns:p14="http://schemas.microsoft.com/office/powerpoint/2010/main" val="10893830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4C083-9D50-4785-98B1-8414DA2D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BA1C6-C0BF-47C2-971B-6B4098A1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E17AC-5B94-4309-82CA-9635F802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Quais são os hotéis com reservas que se sobrepõem a agosto ou setembro de 2012? Basta existir pelo menos um dia da reserva nesse intervalo.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589CE-E478-490A-BB12-B6E8ED2F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70A2C-0977-4FAD-8A2A-14B6ED30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CA512-1B31-4448-8D54-CF292E4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96CBB-0404-408D-AFC3-E1CD42E3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Lisboa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Majestic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Roma</a:t>
            </a:r>
          </a:p>
        </p:txBody>
      </p:sp>
    </p:spTree>
    <p:extLst>
      <p:ext uri="{BB962C8B-B14F-4D97-AF65-F5344CB8AC3E}">
        <p14:creationId xmlns:p14="http://schemas.microsoft.com/office/powerpoint/2010/main" val="8638707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F948B-365A-4215-B6FA-B2C3280D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F490F-3784-441D-80D6-2A587817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9D1CC-C5FD-488D-8BDF-946DB2DF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Quais são os números das reservas efetuadas pela ONU e pela Ana?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FD895-6F3A-4DC4-AA38-5BCDB6F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097DD-B3BC-4AA9-9F8E-02DE5D17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CF71B-3EC6-4448-8A66-22060B8A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CBA58-B4DE-4D17-BF9C-9A3C9071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numeroReserva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582820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26072-4FB0-4031-934F-E3D53214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CF543-A4F3-4903-B0AC-5C4D5C03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34D9E-0427-484E-B4B1-D17652D6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Liste os hotéis onde o cliente ISCTE já efetuou reservas.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8AC29-DC6F-4FA0-B057-858A1368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41144-383F-4222-9A6D-308C9CF2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4C187-1E07-4EE3-B802-C9D96750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44D33-DD15-401A-833A-E51A68E4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Alfa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</a:t>
            </a:r>
          </a:p>
        </p:txBody>
      </p:sp>
    </p:spTree>
    <p:extLst>
      <p:ext uri="{BB962C8B-B14F-4D97-AF65-F5344CB8AC3E}">
        <p14:creationId xmlns:p14="http://schemas.microsoft.com/office/powerpoint/2010/main" val="792485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B4198-41FE-4C75-84AA-28E40C4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37FE3-3AF7-451C-868A-D896B42F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6CFE5-254E-4761-A063-494C34CC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Para cada hotel, indicar a quantidade de faturas, incluindo hotéis sem faturas.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AD5E9-7840-41FB-9711-6EBA0897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20A17-97C3-4E0C-AA1B-DFACAF3D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744ED-71AA-4436-A4D6-BBCE8FA1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11B75-657C-4527-8E9F-7F6EA9AF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 | totalFacturas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Alfa       | 3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Baia       | 0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Lisboa     | 4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Majestic   | 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    | 1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Roma       | 5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Sheraton   | 1</a:t>
            </a:r>
          </a:p>
        </p:txBody>
      </p:sp>
    </p:spTree>
    <p:extLst>
      <p:ext uri="{BB962C8B-B14F-4D97-AF65-F5344CB8AC3E}">
        <p14:creationId xmlns:p14="http://schemas.microsoft.com/office/powerpoint/2010/main" val="32611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FA7B6-EA8E-4DE9-9064-34014768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E6F5E-EA7F-4710-AAA7-CB4932B3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64268-BD74-41ED-A1DB-5E695830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Para cada hotel, indicar o total de quartos, incluindo hotéis sem quartos.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CC941-D75E-495C-A3CF-706B5B57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20BE2-9C70-4C76-B740-4E031707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6F7C7-C450-4668-8E41-ABDE80DF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8E019-C3A9-4499-94CD-8BAF078D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 | totalQuartos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Alfa       | 8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Baia       | 0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Lisboa     | 6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Majestic   | 4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    | 12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Roma       | 10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Sheraton   | 10</a:t>
            </a:r>
          </a:p>
        </p:txBody>
      </p:sp>
    </p:spTree>
    <p:extLst>
      <p:ext uri="{BB962C8B-B14F-4D97-AF65-F5344CB8AC3E}">
        <p14:creationId xmlns:p14="http://schemas.microsoft.com/office/powerpoint/2010/main" val="17046842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AB42C-8909-4589-8F55-6F40A4F2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4F2DB-B525-4550-8330-60DF5D47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009B3-F128-4035-8ADD-9BA04C1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os hotéis com o maior número de quartos.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BD158-D96A-402F-BB93-FD9D696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9A2C8-F73B-4B93-AA99-7DBB94E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22041-0191-4E36-A180-3A8D3F61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62CA9-818D-4BB3-B3BB-1BED42BC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 | totalQuartos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    | 12</a:t>
            </a:r>
          </a:p>
        </p:txBody>
      </p:sp>
    </p:spTree>
    <p:extLst>
      <p:ext uri="{BB962C8B-B14F-4D97-AF65-F5344CB8AC3E}">
        <p14:creationId xmlns:p14="http://schemas.microsoft.com/office/powerpoint/2010/main" val="9361074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07AC6-E578-4928-9F80-C27C1A17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DC5BE-D0E2-40FA-B7DC-10A9ED99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E3850-5C54-4591-8679-48606D0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Para cada organização, indicar o total de reservas, incluindo organizações sem reservas.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EB162-4FFD-44B8-A929-EB966AC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D4587-EFAC-4AC9-92D8-CCFD0002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37D58-1A40-4115-B29E-537F544A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CF2F6-A477-4E03-B3CD-051636BE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       | totalReservas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ISCTE      | 3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ONU        | 8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NASA       | 0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CE         | 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TAP        | 2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Continente | 0</a:t>
            </a:r>
          </a:p>
        </p:txBody>
      </p:sp>
    </p:spTree>
    <p:extLst>
      <p:ext uri="{BB962C8B-B14F-4D97-AF65-F5344CB8AC3E}">
        <p14:creationId xmlns:p14="http://schemas.microsoft.com/office/powerpoint/2010/main" val="20095096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95BD1-BE2B-4B4A-9F0E-1F09CAE8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F1B4B-F1F3-4D8C-9858-4A5D64BE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7936C-12E9-4D01-B172-DE9513D5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Para cada organização e cada hotel, indicar o total de reservas, incluindo combinações sem reservas.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7FFB7-AF24-48E4-BD4E-D225ECE1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19D6E-28F2-4D5A-8A05-D2981931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21186-E4FE-4E05-B67A-8887C72E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C7CA4-6CB2-40FD-966A-ADB8DE39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organização | AL BH LS MJ MN RM SH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ISCTE       | 2  0  0  0  1  0  0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ONU         | 2  0  1  1  1  2  1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NASA        | 0  0  0  0  0  0  0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CE          | 0  0  0  0  0  2  0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TAP         | 0  0  0  2  0  0  0</a:t>
            </a:r>
          </a:p>
          <a:p xmlns:a="http://schemas.openxmlformats.org/drawingml/2006/main">
            <a:pPr>
              <a:def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Continente  | 0  0  0  0  0  0  0</a:t>
            </a:r>
          </a:p>
        </p:txBody>
      </p:sp>
    </p:spTree>
    <p:extLst>
      <p:ext uri="{BB962C8B-B14F-4D97-AF65-F5344CB8AC3E}">
        <p14:creationId xmlns:p14="http://schemas.microsoft.com/office/powerpoint/2010/main" val="954330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3AEA6-1BC5-4CC9-9211-3845AA20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CEB2C-2CE2-4F1D-9906-5B3FF07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1E4CD-0FC0-46F9-AA77-ECFB0922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os hotéis com o maior número de quartos livres, considerando livre um quarto que nunca aparece numa reserva.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33CA2-B8BC-4AF7-916F-FD55A9FB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67CEA-52A5-44FA-AA98-303AF4D5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048BE-B076-4AB7-8AC0-ED82EF9D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929F8-21BD-4D08-AA50-7DAC78DB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 | totalLivres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Mundial    | 8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Sheraton   | 8</a:t>
            </a:r>
          </a:p>
        </p:txBody>
      </p:sp>
    </p:spTree>
    <p:extLst>
      <p:ext uri="{BB962C8B-B14F-4D97-AF65-F5344CB8AC3E}">
        <p14:creationId xmlns:p14="http://schemas.microsoft.com/office/powerpoint/2010/main" val="7443008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C1A12-59AD-412D-AC5C-56B96ABA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C7F2B-661E-4AE1-B015-2F074708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857C4-8A3A-4963-8E54-E10D8FF1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as organizações que têm reservas em todos os hotéis com quartos. O hotel Baia fica excluído porque não tem quartos.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E6EF5-F60F-4916-B7E2-23C26BE9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69020-2845-402D-9FDF-52CFE7FF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D6916-1BCA-4CAD-BE36-9E08BDC4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FE3B9-C5D3-4856-8176-41C158CA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nome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ONU</a:t>
            </a:r>
          </a:p>
        </p:txBody>
      </p:sp>
    </p:spTree>
    <p:extLst>
      <p:ext uri="{BB962C8B-B14F-4D97-AF65-F5344CB8AC3E}">
        <p14:creationId xmlns:p14="http://schemas.microsoft.com/office/powerpoint/2010/main" val="162198107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1D49D-126F-42D1-952E-ED376255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5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93FCC-AEC5-46BA-A487-1BBE2E0F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F96"/>
                </a:solidFill>
                <a:latin typeface="Helvetica Neue"/>
                <a:ea typeface="Helvetica Neue"/>
                <a:cs typeface="Helvetica Neue"/>
              </a:rPr>
              <a:t>EXERCÍCIO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EEC25-4F6F-4613-835E-1661BA5A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F4A"/>
                </a:solidFill>
                <a:latin typeface="Helvetica Neue"/>
                <a:ea typeface="Helvetica Neue"/>
                <a:cs typeface="Helvetica Neue"/>
              </a:rPr>
              <a:t>Listar o hotel com maior volume de faturação e indicar o respetivo valor.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A7BBC-A87E-4C31-85EA-EFA50C0D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A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93EAD-7A5F-445E-9DD5-2BA2621B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35D"/>
                </a:solidFill>
                <a:latin typeface="Helvetica Neue"/>
                <a:ea typeface="Helvetica Neue"/>
                <a:cs typeface="Helvetica Neue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2006E-BDCF-46CE-8B7D-79BF2191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5"/>
          </a:solidFill>
          <a:ln xmlns:a="http://schemas.openxmlformats.org/drawingml/2006/main" w="28575">
            <a:solidFill>
              <a:srgbClr val="65D5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957F0-DCDB-4F9F-B326-E094A8F6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designacao | total</a:t>
            </a:r>
          </a:p>
          <a:p xmlns:a="http://schemas.openxmlformats.org/drawingml/2006/main">
            <a:pPr>
              <a:def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9FFFF"/>
                </a:solidFill>
                <a:latin typeface="Helvetica Neue"/>
                <a:ea typeface="Helvetica Neue"/>
                <a:cs typeface="Helvetica Neue"/>
              </a:rPr>
              <a:t>Roma       | 2000.00</a:t>
            </a:r>
          </a:p>
        </p:txBody>
      </p:sp>
    </p:spTree>
    <p:extLst>
      <p:ext uri="{BB962C8B-B14F-4D97-AF65-F5344CB8AC3E}">
        <p14:creationId xmlns:p14="http://schemas.microsoft.com/office/powerpoint/2010/main" val="1160033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2026-09-13T15:38:13.5590000Z</dcterms:created>
  <dcterms:modified xsi:type="dcterms:W3CDTF">2026-09-13T15:38:13.5590000Z</dcterms:modified>
</coreProperties>
</file>