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2ae1d8266a34c69" /><Relationship Type="http://schemas.openxmlformats.org/officeDocument/2006/relationships/extended-properties" Target="/docProps/app.xml" Id="R7a7efdbdb57d4442" /><Relationship Type="http://schemas.openxmlformats.org/officeDocument/2006/relationships/officeDocument" Target="/ppt/presentation.xml" Id="R7d7f0799942c46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1ebea82c84f4cd8"/>
  </p:sldMasterIdLst>
  <p:notesMasterIdLst>
    <p:notesMasterId xmlns:r="http://schemas.openxmlformats.org/officeDocument/2006/relationships" r:id="R8833a98a34ce4274"/>
  </p:notesMasterIdLst>
  <p:sldIdLst>
    <p:sldId xmlns:r="http://schemas.openxmlformats.org/officeDocument/2006/relationships" id="256" r:id="R83464e7ad24741dc"/>
    <p:sldId xmlns:r="http://schemas.openxmlformats.org/officeDocument/2006/relationships" id="257" r:id="Rf3485f847849463e"/>
    <p:sldId xmlns:r="http://schemas.openxmlformats.org/officeDocument/2006/relationships" id="258" r:id="Rd939acf1f4a8453d"/>
    <p:sldId xmlns:r="http://schemas.openxmlformats.org/officeDocument/2006/relationships" id="259" r:id="Reda8519d480741b5"/>
    <p:sldId xmlns:r="http://schemas.openxmlformats.org/officeDocument/2006/relationships" id="260" r:id="R91c8d99b4d2d4b9f"/>
    <p:sldId xmlns:r="http://schemas.openxmlformats.org/officeDocument/2006/relationships" id="261" r:id="Rc08e7c95200649ec"/>
    <p:sldId xmlns:r="http://schemas.openxmlformats.org/officeDocument/2006/relationships" id="262" r:id="Rd518d63799c74bf8"/>
    <p:sldId xmlns:r="http://schemas.openxmlformats.org/officeDocument/2006/relationships" id="263" r:id="R7e73a3c5481b4389"/>
    <p:sldId xmlns:r="http://schemas.openxmlformats.org/officeDocument/2006/relationships" id="264" r:id="Rde1d6a4e1c6c46be"/>
    <p:sldId xmlns:r="http://schemas.openxmlformats.org/officeDocument/2006/relationships" id="265" r:id="R371651f40790435c"/>
    <p:sldId xmlns:r="http://schemas.openxmlformats.org/officeDocument/2006/relationships" id="266" r:id="Rc0b9ef0115644113"/>
    <p:sldId xmlns:r="http://schemas.openxmlformats.org/officeDocument/2006/relationships" id="267" r:id="R53d588b70cc441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375239eb5af466a" /><Relationship Type="http://schemas.openxmlformats.org/officeDocument/2006/relationships/slideMaster" Target="/ppt/slideMasters/slideMaster1.xml" Id="R31ebea82c84f4cd8" /><Relationship Type="http://schemas.openxmlformats.org/officeDocument/2006/relationships/notesMaster" Target="/ppt/notesMasters/notesMaster1.xml" Id="R8833a98a34ce4274" /><Relationship Type="http://schemas.openxmlformats.org/officeDocument/2006/relationships/presProps" Target="/ppt/presProps.xml" Id="Rc898c064d58140e1" /><Relationship Type="http://schemas.openxmlformats.org/officeDocument/2006/relationships/tableStyles" Target="/ppt/tableStyles.xml" Id="R8a592843b96042c0" /><Relationship Type="http://schemas.openxmlformats.org/officeDocument/2006/relationships/slide" Target="/ppt/slides/slide1.xml" Id="R83464e7ad24741dc" /><Relationship Type="http://schemas.openxmlformats.org/officeDocument/2006/relationships/slide" Target="/ppt/slides/slide2.xml" Id="Rf3485f847849463e" /><Relationship Type="http://schemas.openxmlformats.org/officeDocument/2006/relationships/slide" Target="/ppt/slides/slide3.xml" Id="Rd939acf1f4a8453d" /><Relationship Type="http://schemas.openxmlformats.org/officeDocument/2006/relationships/slide" Target="/ppt/slides/slide4.xml" Id="Reda8519d480741b5" /><Relationship Type="http://schemas.openxmlformats.org/officeDocument/2006/relationships/slide" Target="/ppt/slides/slide5.xml" Id="R91c8d99b4d2d4b9f" /><Relationship Type="http://schemas.openxmlformats.org/officeDocument/2006/relationships/slide" Target="/ppt/slides/slide6.xml" Id="Rc08e7c95200649ec" /><Relationship Type="http://schemas.openxmlformats.org/officeDocument/2006/relationships/slide" Target="/ppt/slides/slide7.xml" Id="Rd518d63799c74bf8" /><Relationship Type="http://schemas.openxmlformats.org/officeDocument/2006/relationships/slide" Target="/ppt/slides/slide8.xml" Id="R7e73a3c5481b4389" /><Relationship Type="http://schemas.openxmlformats.org/officeDocument/2006/relationships/slide" Target="/ppt/slides/slide9.xml" Id="Rde1d6a4e1c6c46be" /><Relationship Type="http://schemas.openxmlformats.org/officeDocument/2006/relationships/slide" Target="/ppt/slides/slide10.xml" Id="R371651f40790435c" /><Relationship Type="http://schemas.openxmlformats.org/officeDocument/2006/relationships/slide" Target="/ppt/slides/slide11.xml" Id="Rc0b9ef0115644113" /><Relationship Type="http://schemas.openxmlformats.org/officeDocument/2006/relationships/slide" Target="/ppt/slides/slide12.xml" Id="R53d588b70cc441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15e5a844f2742f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16638ec7404db2" /><Relationship Type="http://schemas.openxmlformats.org/officeDocument/2006/relationships/notesMaster" Target="/ppt/notesMasters/notesMaster1.xml" Id="R814bd64f128941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5849f94e3c43cb" /><Relationship Type="http://schemas.openxmlformats.org/officeDocument/2006/relationships/notesMaster" Target="/ppt/notesMasters/notesMaster1.xml" Id="R3a063866d5a342f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b4065cb7ac4437" /><Relationship Type="http://schemas.openxmlformats.org/officeDocument/2006/relationships/notesMaster" Target="/ppt/notesMasters/notesMaster1.xml" Id="R43b0b565def243b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d8e5bd2a93c4824" /><Relationship Type="http://schemas.openxmlformats.org/officeDocument/2006/relationships/notesMaster" Target="/ppt/notesMasters/notesMaster1.xml" Id="Re9948aebbeaa4e9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e72ed7c8957492b" /><Relationship Type="http://schemas.openxmlformats.org/officeDocument/2006/relationships/notesMaster" Target="/ppt/notesMasters/notesMaster1.xml" Id="Rb90d03922af342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43bdb17dd24d42" /><Relationship Type="http://schemas.openxmlformats.org/officeDocument/2006/relationships/notesMaster" Target="/ppt/notesMasters/notesMaster1.xml" Id="R471fb9e155f448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0903db83e1047d8" /><Relationship Type="http://schemas.openxmlformats.org/officeDocument/2006/relationships/notesMaster" Target="/ppt/notesMasters/notesMaster1.xml" Id="R94e3ab04636849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093a88e2ab44fb" /><Relationship Type="http://schemas.openxmlformats.org/officeDocument/2006/relationships/notesMaster" Target="/ppt/notesMasters/notesMaster1.xml" Id="R72120d02fc8649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ef825b1bea4c40" /><Relationship Type="http://schemas.openxmlformats.org/officeDocument/2006/relationships/notesMaster" Target="/ppt/notesMasters/notesMaster1.xml" Id="Rb523c2c0c7254d7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05cfeef57346f9" /><Relationship Type="http://schemas.openxmlformats.org/officeDocument/2006/relationships/notesMaster" Target="/ppt/notesMasters/notesMaster1.xml" Id="Rdf731f65d76f4c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e2ae5d8c8e245c5" /><Relationship Type="http://schemas.openxmlformats.org/officeDocument/2006/relationships/notesMaster" Target="/ppt/notesMasters/notesMaster1.xml" Id="R789bab38f5364e0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088e97d6d114351" /><Relationship Type="http://schemas.openxmlformats.org/officeDocument/2006/relationships/notesMaster" Target="/ppt/notesMasters/notesMaster1.xml" Id="Rd78e27a8dfe64e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Guião criado a partir da resolução do docente: ResoluçãoExercícioGénero.pdf.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Tempos retirados da resolução do docente: aproximadamente 46 segundos com a view e 0,02 segundos com a tabela.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8c7f2ca22e405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421ad6ec684853" /><Relationship Type="http://schemas.openxmlformats.org/officeDocument/2006/relationships/slideLayout" Target="/ppt/slideLayouts/slideLayout1.xml" Id="R3e970ce34d6949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970ce34d6949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6667c9e54f4203" /><Relationship Type="http://schemas.openxmlformats.org/officeDocument/2006/relationships/notesSlide" Target="/ppt/notesSlides/notesSlide1.xml" Id="Rc90834a6c8da443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1eeeae5f604e55" /><Relationship Type="http://schemas.openxmlformats.org/officeDocument/2006/relationships/notesSlide" Target="/ppt/notesSlides/notesSlide2.xml" Id="Rb2778c00b88c444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8abeee751f4289" /><Relationship Type="http://schemas.openxmlformats.org/officeDocument/2006/relationships/notesSlide" Target="/ppt/notesSlides/notesSlide3.xml" Id="R8c9fc808b2224f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7c48333eda46aa" /><Relationship Type="http://schemas.openxmlformats.org/officeDocument/2006/relationships/notesSlide" Target="/ppt/notesSlides/notesSlide4.xml" Id="R58adf3b66ecd46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43419c3b642a7" /><Relationship Type="http://schemas.openxmlformats.org/officeDocument/2006/relationships/notesSlide" Target="/ppt/notesSlides/notesSlide5.xml" Id="Rbbe02e5adba64b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110b2a2c64169" /><Relationship Type="http://schemas.openxmlformats.org/officeDocument/2006/relationships/notesSlide" Target="/ppt/notesSlides/notesSlide6.xml" Id="Re9be8bf0a6e4408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2b393c333943e6" /><Relationship Type="http://schemas.openxmlformats.org/officeDocument/2006/relationships/notesSlide" Target="/ppt/notesSlides/notesSlide7.xml" Id="R471c0e6a123047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0b443da814dab" /><Relationship Type="http://schemas.openxmlformats.org/officeDocument/2006/relationships/notesSlide" Target="/ppt/notesSlides/notesSlide8.xml" Id="R614ad2cef5c74c5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07dc35d8849dc" /><Relationship Type="http://schemas.openxmlformats.org/officeDocument/2006/relationships/chart" Target="/ppt/slides/charts/chart1.xml" Id="Ra498c2fa3ed34c1d" /><Relationship Type="http://schemas.openxmlformats.org/officeDocument/2006/relationships/notesSlide" Target="/ppt/notesSlides/notesSlide9.xml" Id="R910a5645c44a422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b925b1f4074f85" /><Relationship Type="http://schemas.openxmlformats.org/officeDocument/2006/relationships/notesSlide" Target="/ppt/notesSlides/notesSlide10.xml" Id="R5e6f5ce6ad5e463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17638a8fff4f91" /><Relationship Type="http://schemas.openxmlformats.org/officeDocument/2006/relationships/notesSlide" Target="/ppt/notesSlides/notesSlide11.xml" Id="R44116653b190494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fc88462124051" /><Relationship Type="http://schemas.openxmlformats.org/officeDocument/2006/relationships/notesSlide" Target="/ppt/notesSlides/notesSlide12.xml" Id="Rebb0291fde30411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Tempo em segundos</c:v>
          </c:tx>
          <c:spPr>
            <a:solidFill xmlns:a="http://schemas.openxmlformats.org/drawingml/2006/main">
              <a:srgbClr val="087F8C"/>
            </a:solidFill>
          </c:spPr>
          <c:cat>
            <c:strRef>
              <c:f>'Chart Data'!$A$2:$A$3</c:f>
              <c:strCache>
                <c:ptCount val="2"/>
                <c:pt idx="0">
                  <c:v>View genre_all</c:v>
                </c:pt>
                <c:pt idx="1">
                  <c:v>Tabela genre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46</c:v>
                </c:pt>
                <c:pt idx="1">
                  <c:v>0.02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ED683-0BFE-4FF6-B595-F132A143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7630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5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45BCC4"/>
                </a:solidFill>
                <a:latin typeface="Helvetica Neue"/>
                <a:ea typeface="Helvetica Neue"/>
                <a:cs typeface="Helvetica Neue"/>
              </a:rPr>
              <a:t>BASES DE DADOS · EXERCÍCIO GUIADO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F9C52-9D21-4C1A-80C3-AFEF82BC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00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Que género fez mais vezes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Robert De Niro?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EE38D-C14B-4C0F-A505-6D2758561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8858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6E4E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D6E4EB"/>
                </a:solidFill>
                <a:latin typeface="Helvetica Neue"/>
                <a:ea typeface="Helvetica Neue"/>
                <a:cs typeface="Helvetica Neue"/>
              </a:rPr>
              <a:t>Um exercício sobre listas dentro de um campo, views e desempenho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116EE8-E777-4801-85FD-FBF133CE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3333750" cy="552450"/>
          </a:xfrm>
          <a:prstGeom xmlns:a="http://schemas.openxmlformats.org/drawingml/2006/main" prst="roundRect">
            <a:avLst>
              <a:gd name="adj" fmla="val 13793"/>
            </a:avLst>
          </a:prstGeom>
          <a:noFill xmlns:a="http://schemas.openxmlformats.org/drawingml/2006/main"/>
          <a:ln xmlns:a="http://schemas.openxmlformats.org/drawingml/2006/main" w="19050">
            <a:solidFill>
              <a:srgbClr val="6D8CA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9C16B-0A33-40DA-8536-286CC777C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Autor: Pedro Ramos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BCE33C-3CAC-445D-A4C7-4B4037F1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5905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45BCC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5BCC4"/>
                </a:solidFill>
                <a:latin typeface="Helvetica Neue"/>
                <a:ea typeface="Helvetica Neue"/>
                <a:cs typeface="Helvetica Neue"/>
              </a:rPr>
              <a:t>SQL · IMDb</a:t>
            </a:r>
          </a:p>
        </p:txBody>
      </p:sp>
    </p:spTree>
    <p:extLst>
      <p:ext uri="{BB962C8B-B14F-4D97-AF65-F5344CB8AC3E}">
        <p14:creationId xmlns:p14="http://schemas.microsoft.com/office/powerpoint/2010/main" val="45227145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46573B-7C25-4E22-8CBE-364A8BB3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770995-5377-4194-B86B-BDC473B3C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D66B3C-6DA9-44DF-9F61-E63EDE150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Começar no Docker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892B06-C644-462C-8C97-E9DBF85F0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48EB5A-EE28-404A-8FA1-03C22A8A3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59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3EBB82-72AC-40A0-97E9-333EE073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37160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No terminal, dentro da pasta que contém MysqlDocker.yml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B44C4-743B-4682-8C83-0CE7E56CD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95500"/>
            <a:ext cx="8858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A36E8D-9929-484A-815F-4F9A8676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2228850"/>
            <a:ext cx="851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docker compose -f MysqlDocker.yml up -d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7B10E-05E8-4E68-AA90-1262F06F9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90875"/>
            <a:ext cx="5905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D5D2F6-57CA-4855-8736-4D56C516C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813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No Docker Desktop, abrir o terminal do contentor MySQL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5050E-10EF-4161-A085-B453ED1E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05250"/>
            <a:ext cx="8858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7BC76C-A2AF-4DBF-BBA6-D22DC5D2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038600"/>
            <a:ext cx="8515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mysql -u root -p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3AE3D-1C32-40D5-AF8C-CC893ACB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05375"/>
            <a:ext cx="885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A palavra-passe está no ficheiro .env. Os caracteres não aparecem enquanto escreve.</a:t>
            </a:r>
          </a:p>
        </p:txBody>
      </p:sp>
    </p:spTree>
    <p:extLst>
      <p:ext uri="{BB962C8B-B14F-4D97-AF65-F5344CB8AC3E}">
        <p14:creationId xmlns:p14="http://schemas.microsoft.com/office/powerpoint/2010/main" val="3446750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A422F3F-A660-43F6-8A41-7201EEEE1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3E9064-CD2D-4D5E-91B4-16DEF13C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04D57-0F91-468C-885D-86B28BCC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 problema dentro de genres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7BE05E-D69C-424C-A234-49842F532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73FCA1-09C9-4EE9-B76E-A1EF286D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Uma linha pode conter vários valores separados por vírgulas.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DB1CC1-94D5-4EC7-81B4-48093002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190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B66B8E-2E76-4316-AB2C-EA0C0B046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2038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tconst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4BD7412-FD70-4D78-BAC9-D352E7017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809750"/>
            <a:ext cx="409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1479FB-D07D-4E52-B2E8-5394BAC0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3943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primaryTitle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8541C7-64BD-4D79-A8A1-DEBAD6CCA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0975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083AA1-2649-4A04-91F1-7C21B7511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432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genres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BFE91A-1E9B-4DCE-B51C-F6EDB0D4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050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2A42C0-6ACA-4571-B8AB-DE8503E9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812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tt0000001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DF65CE-ADEB-433C-AB3D-5763B3C3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050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FB60C-3009-49BA-B66E-283C22E26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81250"/>
            <a:ext cx="3943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Exemplo 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6328DE-7087-4813-BE21-0B90D7DC1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050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A167F1-4ACB-4DA8-A447-0704B871D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Documentary,Short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73400C-06D6-4DB0-8BE2-EF876A49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075A7E-985E-4B1B-A298-3E79553D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7180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tt0000002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FE6C21-3DED-48D3-B34A-7FC1BBC4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9560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F84CFB-1985-4345-8289-D4CA3C64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971800"/>
            <a:ext cx="3943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Exemplo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DD664DB-F1DC-4DF2-ABA0-EBC6118C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9560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3D198D5-E78F-4053-905C-5723084D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7180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Animation,Short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3DA59D-CD82-44EC-A922-E69FBF4A3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86150"/>
            <a:ext cx="2190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0CEF96-AAE4-4C88-B794-7A722274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62350"/>
            <a:ext cx="2038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tt0000003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4508A43-FAF7-4045-ACEA-5CBC11AD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86150"/>
            <a:ext cx="4095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82D5544-1C88-4A19-A209-5650E929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3943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Exemplo C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47BE92-CA7E-4621-93F3-1C11E433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86150"/>
            <a:ext cx="44767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316187-EC91-4874-BA93-9F5C5D85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562350"/>
            <a:ext cx="432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Animation,Comedy,Romance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ACF3D2-304D-4823-8504-07D5B29D6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76750"/>
            <a:ext cx="1057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B73546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B73546"/>
                </a:solidFill>
                <a:latin typeface="Helvetica Neue"/>
                <a:ea typeface="Helvetica Neue"/>
                <a:cs typeface="Helvetica Neue"/>
              </a:rPr>
              <a:t>GROUP BY genres criaria grupos para combinações completas, não para cada género.</a:t>
            </a:r>
          </a:p>
        </p:txBody>
      </p:sp>
    </p:spTree>
    <p:extLst>
      <p:ext uri="{BB962C8B-B14F-4D97-AF65-F5344CB8AC3E}">
        <p14:creationId xmlns:p14="http://schemas.microsoft.com/office/powerpoint/2010/main" val="17290321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C958D5-FFA8-42C2-9B72-3ECA361C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FB7C3B-1709-40FC-B023-04E5C58D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41DB1-BAB5-43F2-8E7E-982948320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SUBSTRING_INDEX separa o texto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F1FB9-7DCF-4C73-811C-07F135C7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E6BE03-BF14-4781-939F-56FD739BB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6858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D223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2A0F92-B590-4235-A26B-40187A45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14475"/>
            <a:ext cx="65151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SUBSTRING_INDEX(</a:t>
            </a:r>
          </a:p>
          <a:p xmlns:a="http://schemas.openxmlformats.org/drawingml/2006/main">
            <a:pPr algn="l">
              <a:def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  'Avenida da Liberdade,12,Lisboa,Portugal',</a:t>
            </a:r>
          </a:p>
          <a:p xmlns:a="http://schemas.openxmlformats.org/drawingml/2006/main">
            <a:pPr algn="l">
              <a:def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  ',', 2</a:t>
            </a:r>
          </a:p>
          <a:p xmlns:a="http://schemas.openxmlformats.org/drawingml/2006/main">
            <a:pPr algn="l">
              <a:def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EEF8FA"/>
                </a:solidFill>
                <a:latin typeface="Helvetica Neue"/>
                <a:ea typeface="Helvetica Neue"/>
                <a:cs typeface="Helvetica Neue"/>
              </a:rPr>
              <a:t>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10556E-0A9D-4DA0-B1DF-111BF67D0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1381125"/>
            <a:ext cx="34290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BB1463-AAA1-44D2-93A4-117ABC28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71625"/>
            <a:ext cx="2952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Resultado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92EA3-C2EC-4DE1-BDA9-1D6ACE23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47875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Avenida da Liberdade,12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71274-453B-4BCC-937D-7053FEAFB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19500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Um número positivo conserva as partes contadas a partir do início.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0DD48D-EF72-4604-9094-C8270EDF2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19500"/>
            <a:ext cx="4810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Um número negativo conta a partir do fim. O valor -1 devolve a última parte.</a:t>
            </a:r>
          </a:p>
        </p:txBody>
      </p:sp>
    </p:spTree>
    <p:extLst>
      <p:ext uri="{BB962C8B-B14F-4D97-AF65-F5344CB8AC3E}">
        <p14:creationId xmlns:p14="http://schemas.microsoft.com/office/powerpoint/2010/main" val="331711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0BD820-4B30-40CC-AC07-DA4F8368C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396CEB-CF25-45C2-9CD3-C01FC5A5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E3378F-0E79-42CB-9482-576EC8B8A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Um género de cada vez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6DC13-BD03-4380-86AF-8F8FCC807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E01993-CBAA-489D-BE05-916DDC4F2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52550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Valor original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4E21B8-D2E7-4FCA-9848-B014FEE8F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90700"/>
            <a:ext cx="10763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773DE1-7B38-4E05-90A4-EEECE209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Animation,Comedy,Romance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1DF694-C40B-42FF-8FA4-B0607820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3000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78E04-3028-44B7-A7AD-4C99E2694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385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1.º género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50C790-5B18-4B9C-89CD-A4C738943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147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Animation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16942-4C4A-4D5C-8E8A-026D819D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48000"/>
            <a:ext cx="3000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DD8CB-294C-4406-8DEE-376EBE83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385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2.º género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A4D05B6-D955-4219-9E00-6D8DB21EC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147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Comedy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5611FC-A8E4-4AD4-ABBD-9AFE2A95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48000"/>
            <a:ext cx="3000375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81F87F-B2E8-485B-8C10-9CA51FF12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238500"/>
            <a:ext cx="26193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3.º género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F8FD52-9B29-4E9B-956B-EBCC6CFB4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714750"/>
            <a:ext cx="2619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Romance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523D6D-0E41-4AA6-B3FB-2F9167A2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rPr>
              <a:t>Desafio: construir uma única lista de géneros distintos.</a:t>
            </a:r>
          </a:p>
        </p:txBody>
      </p:sp>
    </p:spTree>
    <p:extLst>
      <p:ext uri="{BB962C8B-B14F-4D97-AF65-F5344CB8AC3E}">
        <p14:creationId xmlns:p14="http://schemas.microsoft.com/office/powerpoint/2010/main" val="9636891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ABD2B1-3C82-4098-95B0-CCA7E584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44C13-3DA5-4639-9DDF-EBC8679E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658A0B-C72E-4100-81FA-A2B2A5C6B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O caminho entre as tabelas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EDB186-8B06-4EE2-BA3F-4164BD554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3FEE0-F595-4172-9684-EC00C46D7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8159FF-0851-4523-922B-E4EDB7A6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50A3FE-CBAF-44B9-9DE1-CB37E53A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85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namebasics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C731CA-82DA-4651-A27F-DA5374595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71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PK nconst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primaryName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8464D6-CBE5-47E4-BB7D-300B930D2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3E149D-C149-4597-AA37-62A163A2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809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07EF86-5FBA-434D-B481-EE34082B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85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titleprincipals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B77ACF-3DCB-4695-B2A8-BE72751D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571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FK nconst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FK tconst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794894-9B30-468D-9059-340B0631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6D084E7-805D-4142-994E-8CDF16F86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09750"/>
            <a:ext cx="2857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30EF76-D065-499C-B79E-78E98ED57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859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titlebasics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825844-BD84-41ED-A501-85AD3831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5717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PK tconst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genres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2D0AF7-956E-4DA4-92E2-FF1B3BA39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57175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nconst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E6172-8F5C-451B-A94E-16E5DE4F1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571750"/>
            <a:ext cx="8096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tconst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F41F59-41A1-4F27-B4CD-E46BB2C65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0477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A consulta percorre a pessoa, as suas participações e as obras onde estão os géneros.</a:t>
            </a:r>
          </a:p>
        </p:txBody>
      </p:sp>
    </p:spTree>
    <p:extLst>
      <p:ext uri="{BB962C8B-B14F-4D97-AF65-F5344CB8AC3E}">
        <p14:creationId xmlns:p14="http://schemas.microsoft.com/office/powerpoint/2010/main" val="7646704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CB4C32-F444-41A0-9C97-E375392D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93DEEC-A163-46D1-A1E8-D2FAABBD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4B72C0-DD19-4902-9AED-9E46EA86B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Contar obras por género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9CD6E-9231-42AE-8E3F-50E84FCAD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3B1F0-9B1E-46FE-8DDA-1C127FE5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95400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A consulta deve: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AEF93F-E748-422A-AD1E-6A8D1005A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647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72DDBB-05DF-42EC-8344-6F5E853B6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383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52F93B-EDDC-4251-A055-36E0732D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19621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Filtrar primaryName = 'Robert de Niro'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51622-E07B-4344-9BE1-4C8D0F74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647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0D3F64-558B-4EF9-816D-ECC73B4A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194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4247D9-5D2E-4B36-B0EF-F8441E186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7432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Ligar as tabelas através de nconst e tconst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4DA90A-EBBE-448B-A941-55AA7E7A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62350"/>
            <a:ext cx="647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F1616-F0DF-4FF5-A9F4-77099CAE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0045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19001E-190F-425D-BB42-2FCAFC27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52425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Associar cada obra aos géneros encontrados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8A8C41-77F8-4392-84D3-05A5A1F81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43400"/>
            <a:ext cx="6477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85B7DF-963A-4CB5-9507-E8F2ECEDE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81500"/>
            <a:ext cx="647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C684C30-99F0-413C-B14A-DEF425CD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4305300"/>
            <a:ext cx="9144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Contar tconst distintos e agrupar por género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629830-D19D-4D55-958C-C06757DE0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81625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A solução SQL fica deliberadamente fora dos slides.</a:t>
            </a:r>
          </a:p>
        </p:txBody>
      </p:sp>
    </p:spTree>
    <p:extLst>
      <p:ext uri="{BB962C8B-B14F-4D97-AF65-F5344CB8AC3E}">
        <p14:creationId xmlns:p14="http://schemas.microsoft.com/office/powerpoint/2010/main" val="12181805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C431CB-93E9-4AAF-8112-D20F11A8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7F65D7-63C2-446C-8289-EC5B58B2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9A2B08-96DC-4CEF-94DC-FAADA67F9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Conservar apenas o maior total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96F86F-3385-4384-ABB2-067EF6EDD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CD0A6A-3238-4E44-8359-D826B58FD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057275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5E0E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6A6067-950A-483C-BC91-1D6CC440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09750"/>
            <a:ext cx="10001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HAVING total &gt;= ALL (subconsulta)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C75775-9529-4E87-B5CC-D9311C14B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90875"/>
            <a:ext cx="10191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O total de um género tem de ser maior ou igual a todos os totais devolvidos pela subconsulta.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0283AA-5579-489B-B829-5290059B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19625"/>
            <a:ext cx="8763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3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A88C0E-3AEA-4D53-B1B0-4652DA652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714875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Se existir empate no máximo, aparecem todos os géneros empatados.</a:t>
            </a:r>
          </a:p>
        </p:txBody>
      </p:sp>
    </p:spTree>
    <p:extLst>
      <p:ext uri="{BB962C8B-B14F-4D97-AF65-F5344CB8AC3E}">
        <p14:creationId xmlns:p14="http://schemas.microsoft.com/office/powerpoint/2010/main" val="36804502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4270A1-045B-4450-920C-9ECF75A4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E53C4-5B1D-41CE-A449-FE383714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9635C-AD97-4141-8855-325D04C4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View e tabela: tempos medidos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BABFE2-5CB3-4B7F-A4D3-909672DC1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1095375" y="1381125"/>
          <a:ext xmlns:a="http://schemas.openxmlformats.org/drawingml/2006/main" cx="1000125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498c2fa3ed34c1d"/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D60955-1856-4C56-9CD5-A922F5E46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7687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Medições da resolução original. Os valores absolutos dependem do ambiente.</a:t>
            </a:r>
          </a:p>
        </p:txBody>
      </p:sp>
    </p:spTree>
    <p:extLst>
      <p:ext uri="{BB962C8B-B14F-4D97-AF65-F5344CB8AC3E}">
        <p14:creationId xmlns:p14="http://schemas.microsoft.com/office/powerpoint/2010/main" val="28193525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03881-527C-49AD-9870-E1FC4D2B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8A8311-3F60-4FE1-93FA-787CAE7B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3630C0D-240B-46CA-B7C7-98E85247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View ou tabela?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A3FFF-6B45-4425-8447-5224B4581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F9A64-361F-4784-986C-094B345E2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98FB9-2490-4AC1-ADC0-910860661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381125"/>
            <a:ext cx="4095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1">
                <a:solidFill>
                  <a:srgbClr val="13795B"/>
                </a:solidFill>
                <a:latin typeface="Helvetica Neue"/>
                <a:ea typeface="Helvetica Neue"/>
                <a:cs typeface="Helvetica Neue"/>
              </a:rPr>
              <a:t>TABELA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36841-FB75-4888-A8C2-8B25D65C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47875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8AF894-AEFB-4B98-BBB7-B3E0D6701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33625"/>
            <a:ext cx="390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Guarda a definição da consulta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Reflete os dados atuais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Pode repetir cálculos caros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51C38-7C72-4C03-8BBA-AD106AD5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047875"/>
            <a:ext cx="44767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3795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D49B8B-1136-40CA-9FE9-F613A3A0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333625"/>
            <a:ext cx="3905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Guarda as linhas calculadas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Exige atualização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Evita repetir a separação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5FED82-CE9E-4B70-9058-46EC6308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A escolha depende do custo do cálculo e da necessidade de ter dados sempre atuais.</a:t>
            </a:r>
          </a:p>
        </p:txBody>
      </p:sp>
    </p:spTree>
    <p:extLst>
      <p:ext uri="{BB962C8B-B14F-4D97-AF65-F5344CB8AC3E}">
        <p14:creationId xmlns:p14="http://schemas.microsoft.com/office/powerpoint/2010/main" val="966417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FF3C97-AB11-452D-8C8E-A55D7654F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61F16A-5170-4E49-B346-800AEDCB3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51E5C0-163B-4A19-B8E0-ACB3CFC99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Um modelo relacional mais adequado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06E900-0A49-49CD-A6CD-3DA15BCE9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8665B-0AA5-456E-8B7A-0A15B933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59EE03-C880-41F8-B071-4C4C470A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33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titlebasics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A87FB3-9D88-4D2F-8767-596B9957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uma linha por obra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837972-D5FC-4316-B5A3-126B3B7F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09550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81AEE5-D99D-4F08-8319-ED0EF4367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33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title_genre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BB5FE-F41B-4A70-9EC0-524EE8DB6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003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uma linha por associação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496948-7DF3-4C94-A6CC-B64BD41C1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314325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87F8C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2F65E93-7874-4FB7-AD53-A18C077A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33625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genre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FAFB38-FB4A-4E1B-86D4-AB2BDB9FF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00375"/>
            <a:ext cx="2762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uma linha por género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D5FD9-56EA-4FA0-A6A7-CC45099B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6700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66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rPr>
              <a:t>1—N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1CB5B45-3DB1-4BCD-8443-09C17036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714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9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2B134"/>
                </a:solidFill>
                <a:latin typeface="Helvetica Neue"/>
                <a:ea typeface="Helvetica Neue"/>
                <a:cs typeface="Helvetica Neue"/>
              </a:rPr>
              <a:t>N—1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4A0E7-4860-41C8-8114-7C503C04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72000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212B"/>
                </a:solidFill>
                <a:latin typeface="Helvetica Neue"/>
                <a:ea typeface="Helvetica Neue"/>
                <a:cs typeface="Helvetica Neue"/>
              </a:rPr>
              <a:t>Cada género passa a ser um valor independente. As chaves estrangeiras garantem associações válidas.</a:t>
            </a:r>
          </a:p>
        </p:txBody>
      </p:sp>
    </p:spTree>
    <p:extLst>
      <p:ext uri="{BB962C8B-B14F-4D97-AF65-F5344CB8AC3E}">
        <p14:creationId xmlns:p14="http://schemas.microsoft.com/office/powerpoint/2010/main" val="187225650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B87960-BC80-47D8-9977-A0B1177F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29F787-F2AA-4102-B0CA-252047356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781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87F8C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E6AE5-2651-4B95-9048-996A8249E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342900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550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Questões para a aula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B27095-1412-49E0-99D7-18E0E199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Pedro Ramos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215796-78C0-468A-8DB2-5CA35E92C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381125"/>
            <a:ext cx="647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8207F-6DEB-4909-B808-2EE476998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447800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CCF2DB-9099-4B15-8F4C-5FD8DA35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36207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Porque não basta GROUP BY genres?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448B1B-E338-4162-87B4-32304F03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647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A7352A-F025-4561-A189-8E47FBB75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4792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01A634-81CD-4416-9282-CFBD2AF94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6220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Quando compensa materializar o resultado?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E8389-AC7B-4560-A95B-A2F57DCB8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381375"/>
            <a:ext cx="647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087F8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F094B-C46B-48EE-9452-0778B1575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48050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42049E-4719-4E49-A936-D5382FDA0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362325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Que PK deve ter title_genre?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787B54-9C84-4E95-850B-BE1B31E2C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81500"/>
            <a:ext cx="6477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2B134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B83BFF-72AF-40EC-A0B5-74632F995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48175"/>
            <a:ext cx="647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7A734C-05C9-4435-ADE1-0DC879B5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62450"/>
            <a:ext cx="9525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02A43"/>
                </a:solidFill>
                <a:latin typeface="Helvetica Neue"/>
                <a:ea typeface="Helvetica Neue"/>
                <a:cs typeface="Helvetica Neue"/>
              </a:rPr>
              <a:t>Que índices ajudariam no modelo normalizado?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FF325A-165B-47E3-89F8-2C1B4B93E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667375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F6F7D"/>
                </a:solidFill>
                <a:latin typeface="Helvetica Neue"/>
                <a:ea typeface="Helvetica Neue"/>
                <a:cs typeface="Helvetica Neue"/>
              </a:rPr>
              <a:t>As respostas e os comandos completos estão disponíveis no guião Web.</a:t>
            </a:r>
          </a:p>
        </p:txBody>
      </p:sp>
    </p:spTree>
    <p:extLst>
      <p:ext uri="{BB962C8B-B14F-4D97-AF65-F5344CB8AC3E}">
        <p14:creationId xmlns:p14="http://schemas.microsoft.com/office/powerpoint/2010/main" val="43923427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2026-10-02T14:17:58.9210000Z</dcterms:created>
  <dcterms:modified xsi:type="dcterms:W3CDTF">2026-10-02T14:17:58.9210000Z</dcterms:modified>
</coreProperties>
</file>