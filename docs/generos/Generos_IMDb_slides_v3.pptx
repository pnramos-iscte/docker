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1dbba401764c8e" /><Relationship Type="http://schemas.openxmlformats.org/officeDocument/2006/relationships/extended-properties" Target="/docProps/app.xml" Id="R2c5fc06466b04645" /><Relationship Type="http://schemas.openxmlformats.org/officeDocument/2006/relationships/officeDocument" Target="/ppt/presentation.xml" Id="R11857a7633bd4b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20c63dbee44e7c"/>
  </p:sldMasterIdLst>
  <p:notesMasterIdLst>
    <p:notesMasterId xmlns:r="http://schemas.openxmlformats.org/officeDocument/2006/relationships" r:id="Rf12f2b0fa213455e"/>
  </p:notesMasterIdLst>
  <p:sldIdLst>
    <p:sldId xmlns:r="http://schemas.openxmlformats.org/officeDocument/2006/relationships" id="256" r:id="Re9b8cb49910646da"/>
    <p:sldId xmlns:r="http://schemas.openxmlformats.org/officeDocument/2006/relationships" id="257" r:id="R4dc0861c0f824c2c"/>
    <p:sldId xmlns:r="http://schemas.openxmlformats.org/officeDocument/2006/relationships" id="258" r:id="Rede2f09d94984edd"/>
    <p:sldId xmlns:r="http://schemas.openxmlformats.org/officeDocument/2006/relationships" id="259" r:id="Ra3f5b4bdb30841d8"/>
    <p:sldId xmlns:r="http://schemas.openxmlformats.org/officeDocument/2006/relationships" id="260" r:id="R6dd766f68ed94f75"/>
    <p:sldId xmlns:r="http://schemas.openxmlformats.org/officeDocument/2006/relationships" id="261" r:id="R37b40adad46246b4"/>
    <p:sldId xmlns:r="http://schemas.openxmlformats.org/officeDocument/2006/relationships" id="262" r:id="R93df8398685b4271"/>
    <p:sldId xmlns:r="http://schemas.openxmlformats.org/officeDocument/2006/relationships" id="263" r:id="R604907bab13f4586"/>
    <p:sldId xmlns:r="http://schemas.openxmlformats.org/officeDocument/2006/relationships" id="264" r:id="R8cde24a1b2524c8b"/>
    <p:sldId xmlns:r="http://schemas.openxmlformats.org/officeDocument/2006/relationships" id="265" r:id="Re338eb14d379452b"/>
    <p:sldId xmlns:r="http://schemas.openxmlformats.org/officeDocument/2006/relationships" id="266" r:id="R3a37c4e843124b0a"/>
    <p:sldId xmlns:r="http://schemas.openxmlformats.org/officeDocument/2006/relationships" id="267" r:id="R7e52071339a94b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042d8b40684781" /><Relationship Type="http://schemas.openxmlformats.org/officeDocument/2006/relationships/slideMaster" Target="/ppt/slideMasters/slideMaster1.xml" Id="R7020c63dbee44e7c" /><Relationship Type="http://schemas.openxmlformats.org/officeDocument/2006/relationships/notesMaster" Target="/ppt/notesMasters/notesMaster1.xml" Id="Rf12f2b0fa213455e" /><Relationship Type="http://schemas.openxmlformats.org/officeDocument/2006/relationships/presProps" Target="/ppt/presProps.xml" Id="Rde717b5e399b4d6b" /><Relationship Type="http://schemas.openxmlformats.org/officeDocument/2006/relationships/tableStyles" Target="/ppt/tableStyles.xml" Id="Re2f9abe71cf04e7c" /><Relationship Type="http://schemas.openxmlformats.org/officeDocument/2006/relationships/slide" Target="/ppt/slides/slide1.xml" Id="Re9b8cb49910646da" /><Relationship Type="http://schemas.openxmlformats.org/officeDocument/2006/relationships/slide" Target="/ppt/slides/slide2.xml" Id="R4dc0861c0f824c2c" /><Relationship Type="http://schemas.openxmlformats.org/officeDocument/2006/relationships/slide" Target="/ppt/slides/slide3.xml" Id="Rede2f09d94984edd" /><Relationship Type="http://schemas.openxmlformats.org/officeDocument/2006/relationships/slide" Target="/ppt/slides/slide4.xml" Id="Ra3f5b4bdb30841d8" /><Relationship Type="http://schemas.openxmlformats.org/officeDocument/2006/relationships/slide" Target="/ppt/slides/slide5.xml" Id="R6dd766f68ed94f75" /><Relationship Type="http://schemas.openxmlformats.org/officeDocument/2006/relationships/slide" Target="/ppt/slides/slide6.xml" Id="R37b40adad46246b4" /><Relationship Type="http://schemas.openxmlformats.org/officeDocument/2006/relationships/slide" Target="/ppt/slides/slide7.xml" Id="R93df8398685b4271" /><Relationship Type="http://schemas.openxmlformats.org/officeDocument/2006/relationships/slide" Target="/ppt/slides/slide8.xml" Id="R604907bab13f4586" /><Relationship Type="http://schemas.openxmlformats.org/officeDocument/2006/relationships/slide" Target="/ppt/slides/slide9.xml" Id="R8cde24a1b2524c8b" /><Relationship Type="http://schemas.openxmlformats.org/officeDocument/2006/relationships/slide" Target="/ppt/slides/slide10.xml" Id="Re338eb14d379452b" /><Relationship Type="http://schemas.openxmlformats.org/officeDocument/2006/relationships/slide" Target="/ppt/slides/slide11.xml" Id="R3a37c4e843124b0a" /><Relationship Type="http://schemas.openxmlformats.org/officeDocument/2006/relationships/slide" Target="/ppt/slides/slide12.xml" Id="R7e52071339a94b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8c7728ac3a40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e877e890094fa5" /><Relationship Type="http://schemas.openxmlformats.org/officeDocument/2006/relationships/notesMaster" Target="/ppt/notesMasters/notesMaster1.xml" Id="R013fb9a2d0f842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ba9279df9940ff" /><Relationship Type="http://schemas.openxmlformats.org/officeDocument/2006/relationships/notesMaster" Target="/ppt/notesMasters/notesMaster1.xml" Id="Rb01dbc8662cd42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76be7875e449a1" /><Relationship Type="http://schemas.openxmlformats.org/officeDocument/2006/relationships/notesMaster" Target="/ppt/notesMasters/notesMaster1.xml" Id="Rbca9ff7c65c140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412010c8a64996" /><Relationship Type="http://schemas.openxmlformats.org/officeDocument/2006/relationships/notesMaster" Target="/ppt/notesMasters/notesMaster1.xml" Id="R5f5f0c9762c842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fcb53b3a4f4406" /><Relationship Type="http://schemas.openxmlformats.org/officeDocument/2006/relationships/notesMaster" Target="/ppt/notesMasters/notesMaster1.xml" Id="R49ce153953334a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85ca90e2864ae7" /><Relationship Type="http://schemas.openxmlformats.org/officeDocument/2006/relationships/notesMaster" Target="/ppt/notesMasters/notesMaster1.xml" Id="R84667c88c2f54a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a8435fcbc44765" /><Relationship Type="http://schemas.openxmlformats.org/officeDocument/2006/relationships/notesMaster" Target="/ppt/notesMasters/notesMaster1.xml" Id="R07f993079ea34a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79fbce284d4051" /><Relationship Type="http://schemas.openxmlformats.org/officeDocument/2006/relationships/notesMaster" Target="/ppt/notesMasters/notesMaster1.xml" Id="R48821f7a974b4a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790040766547d5" /><Relationship Type="http://schemas.openxmlformats.org/officeDocument/2006/relationships/notesMaster" Target="/ppt/notesMasters/notesMaster1.xml" Id="R1df1eadaf0fe4e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87e154fa5441c2" /><Relationship Type="http://schemas.openxmlformats.org/officeDocument/2006/relationships/notesMaster" Target="/ppt/notesMasters/notesMaster1.xml" Id="Rdc17dff3213c4c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06baa56a3a4773" /><Relationship Type="http://schemas.openxmlformats.org/officeDocument/2006/relationships/notesMaster" Target="/ppt/notesMasters/notesMaster1.xml" Id="Rc9424f8b6cf04e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49c0eaab7e4b95" /><Relationship Type="http://schemas.openxmlformats.org/officeDocument/2006/relationships/notesMaster" Target="/ppt/notesMasters/notesMaster1.xml" Id="R5c549ccc0c1e40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Guião criado a partir da resolução do docente: ResoluçãoExercícioGénero.pdf.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Tempos retirados da resolução do docente: aproximadamente 46 segundos com a view e 0,02 segundos com a tabela.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943c15f4040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fb6466b81944ce" /><Relationship Type="http://schemas.openxmlformats.org/officeDocument/2006/relationships/slideLayout" Target="/ppt/slideLayouts/slideLayout1.xml" Id="Ra4261c02689749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261c02689749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c00991df245bc" /><Relationship Type="http://schemas.openxmlformats.org/officeDocument/2006/relationships/notesSlide" Target="/ppt/notesSlides/notesSlide1.xml" Id="R03e3f2beafea4a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eadfd56734f4a" /><Relationship Type="http://schemas.openxmlformats.org/officeDocument/2006/relationships/notesSlide" Target="/ppt/notesSlides/notesSlide2.xml" Id="Rdc88d5d5b3304f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0fe3543d1412e" /><Relationship Type="http://schemas.openxmlformats.org/officeDocument/2006/relationships/notesSlide" Target="/ppt/notesSlides/notesSlide3.xml" Id="Rda38900b7dde44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e858f987549b7" /><Relationship Type="http://schemas.openxmlformats.org/officeDocument/2006/relationships/notesSlide" Target="/ppt/notesSlides/notesSlide4.xml" Id="Rcb279d1a245c4a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99f841e5d4082" /><Relationship Type="http://schemas.openxmlformats.org/officeDocument/2006/relationships/notesSlide" Target="/ppt/notesSlides/notesSlide5.xml" Id="R496a33826b7847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9b837ae1b42e3" /><Relationship Type="http://schemas.openxmlformats.org/officeDocument/2006/relationships/notesSlide" Target="/ppt/notesSlides/notesSlide6.xml" Id="R04e4d281460542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ae1a17bc04408" /><Relationship Type="http://schemas.openxmlformats.org/officeDocument/2006/relationships/notesSlide" Target="/ppt/notesSlides/notesSlide7.xml" Id="R45beb3f994974b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2f88dcdaf4cbd" /><Relationship Type="http://schemas.openxmlformats.org/officeDocument/2006/relationships/notesSlide" Target="/ppt/notesSlides/notesSlide8.xml" Id="Ree067854440b4c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75df6839f4bdb" /><Relationship Type="http://schemas.openxmlformats.org/officeDocument/2006/relationships/chart" Target="/ppt/slides/charts/chart1.xml" Id="R0539ecad72fc40ba" /><Relationship Type="http://schemas.openxmlformats.org/officeDocument/2006/relationships/notesSlide" Target="/ppt/notesSlides/notesSlide9.xml" Id="R3f536f7a8e3b40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0c959f2cc414e" /><Relationship Type="http://schemas.openxmlformats.org/officeDocument/2006/relationships/notesSlide" Target="/ppt/notesSlides/notesSlide10.xml" Id="R2b5bbfbdd0ee43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f119ea6744514" /><Relationship Type="http://schemas.openxmlformats.org/officeDocument/2006/relationships/notesSlide" Target="/ppt/notesSlides/notesSlide11.xml" Id="R2dbe36f73c3749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af88cf826422d" /><Relationship Type="http://schemas.openxmlformats.org/officeDocument/2006/relationships/notesSlide" Target="/ppt/notesSlides/notesSlide12.xml" Id="R0d4111c8176d475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Tempo em segundos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Data'!$A$2:$A$3</c:f>
              <c:strCache>
                <c:ptCount val="2"/>
                <c:pt idx="0">
                  <c:v>View genre_all</c:v>
                </c:pt>
                <c:pt idx="1">
                  <c:v>Tabela genre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46</c:v>
                </c:pt>
                <c:pt idx="1">
                  <c:v>0.02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AD0D3-FD52-4823-85DA-70A02A05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5BCC4"/>
                </a:solidFill>
                <a:latin typeface="Helvetica Neue"/>
                <a:ea typeface="Helvetica Neue"/>
                <a:cs typeface="Helvetica Neue"/>
              </a:rPr>
              <a:t>BASES DE DADOS · EXERCÍCIO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DB96A-8AAB-46CB-A49F-C885B364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 género fez mais vezes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Robert De Niro?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4FDE2-FF92-4039-8A33-1EE78B17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E4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6E4EB"/>
                </a:solidFill>
                <a:latin typeface="Helvetica Neue"/>
                <a:ea typeface="Helvetica Neue"/>
                <a:cs typeface="Helvetica Neue"/>
              </a:rPr>
              <a:t>Um exercício sobre listas dentro de um campo, views e desempenho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09F23-B5C5-4ACB-AAF5-32955AB6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33375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D8CA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1542F-2751-4D25-97FA-F7DBBEA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61EB9-1516-4E6A-888F-8DB02433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5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5BCC4"/>
                </a:solidFill>
                <a:latin typeface="Helvetica Neue"/>
                <a:ea typeface="Helvetica Neue"/>
                <a:cs typeface="Helvetica Neue"/>
              </a:rPr>
              <a:t>SQL · IMDb</a:t>
            </a:r>
          </a:p>
        </p:txBody>
      </p:sp>
    </p:spTree>
    <p:extLst>
      <p:ext uri="{BB962C8B-B14F-4D97-AF65-F5344CB8AC3E}">
        <p14:creationId xmlns:p14="http://schemas.microsoft.com/office/powerpoint/2010/main" val="1212784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547B2-AA04-4B99-B9DF-A772255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26045-B4FB-4D35-A02F-DE3F1495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0E3E3-1704-4F34-8325-711C8AA6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Começar no Docker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2F974-C9A6-4B54-B76E-728C891C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DB587-473E-4977-8BB8-FF1F960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59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7ABED-8C99-4F36-A911-408EA75F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716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No terminal, dentro da pasta que contém MysqlDocker.yml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C3146-2C81-4BAE-98C3-A97B6CBF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858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0807C-DDCD-459D-BF1D-7615D437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28850"/>
            <a:ext cx="851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docker compose -f MysqlDocker.yml up -d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53182-5360-4EDC-B518-A6A2ECBA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59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A1A1B-3398-47EC-8DC7-024360DC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86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No Docker Desktop, abrir o terminal do contentor MySQL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18866-5731-4355-836A-E22197B8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8858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8452D-80BF-4A25-A0F3-FF8C2A12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86200"/>
            <a:ext cx="851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mysql -u root -p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737C4-3922-4AE0-9F0D-E387DF75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59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B315A-E6F4-41A1-997D-34D9006C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4822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Criar e ativar a base de dados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E0DC1-DCF2-477E-B541-3D289545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4857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D9811-FA73-488E-BA2D-DF4A9013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9585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CREATE DATABASE imdb;   USE imdb;</a:t>
            </a:r>
          </a:p>
        </p:txBody>
      </p:sp>
    </p:spTree>
    <p:extLst>
      <p:ext uri="{BB962C8B-B14F-4D97-AF65-F5344CB8AC3E}">
        <p14:creationId xmlns:p14="http://schemas.microsoft.com/office/powerpoint/2010/main" val="1624366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030ACC-84F7-43E3-8C03-2B4D4AF9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D8DD2-07A0-41EA-8000-EE21C7DA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632B4-C9C5-437A-9061-828E5CE4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 problema dentro de genres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F4063-DF19-4AA5-B58D-729750B0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AFE5C-E55D-47CE-9D45-C5D35790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Uma linha pode conter vários valores separados por vírgulas.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8ADDF-434B-4445-816F-FC6B872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69FE0-1E87-4B1C-85DE-65920BD8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tconst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783E5-7051-4265-A9D6-6393B0C7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C9BBC-FCE5-4A05-8080-6B0B6119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primaryTitle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B18C7-1568-47A9-8172-D71F2F3D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3C4E7-08BA-425E-A900-9CA7AC9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genres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96FA7-28DB-45B2-97BE-ADF1B502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DD394-CE9F-420B-BBD7-88BB8850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tt0000001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DF1CB-B1FD-4F14-A79B-98D637F9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261F3-0351-4255-82FC-DBA9AA42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3943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Exemplo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A4891-FEBA-45C0-A393-6C3C6569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050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1719D-D7C7-4AF2-93C6-7A167887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Documentary,Short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16468-3AA9-4B79-B4B7-25FDD25C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DDB9B-4489-45E1-A1AE-2F4CD9E4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tt0000002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97E13-892D-48D6-86EA-6B39B88C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23E3E3-5D45-4BFB-9B1A-54DC4898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71800"/>
            <a:ext cx="3943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Exemplo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D5E7A-5605-4C70-937D-AA9DBDFD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E24AA-D854-4F70-8467-B3D0A5CB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718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Animation,Short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578030-31F4-4672-9454-BD5DDD03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2F7511-1C44-44AA-9F34-242CF882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tt0000003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20D3A5-2522-4F5B-AD48-D691661A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468371-5F3D-45B3-9A43-D58567E1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3943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Exemplo 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DFC013-4220-4FEE-9352-AD508F47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CFC780-2ACC-457C-B45E-86537412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Animation,Comedy,Romance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03AE8E-6779-4FF9-A273-9B1E32EA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735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73546"/>
                </a:solidFill>
                <a:latin typeface="Helvetica Neue"/>
                <a:ea typeface="Helvetica Neue"/>
                <a:cs typeface="Helvetica Neue"/>
              </a:rPr>
              <a:t>GROUP BY genres criaria grupos para combinações completas, não para cada género.</a:t>
            </a:r>
          </a:p>
        </p:txBody>
      </p:sp>
    </p:spTree>
    <p:extLst>
      <p:ext uri="{BB962C8B-B14F-4D97-AF65-F5344CB8AC3E}">
        <p14:creationId xmlns:p14="http://schemas.microsoft.com/office/powerpoint/2010/main" val="18623988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8AB76-8817-48BD-BC62-94EA5567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1AE91-6100-4B45-8C13-E249A928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C1F3D-923C-4351-8E86-DE25C555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SUBSTRING_INDEX separa o 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49130-5D31-42D1-8663-9AFB6BA0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7E37D-F532-4BAF-AEC2-61E174EB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85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44170-0E4A-412A-B0EA-F916D7D2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14475"/>
            <a:ext cx="65151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SUBSTRING_INDEX(</a:t>
            </a:r>
          </a:p>
          <a:p xmlns:a="http://schemas.openxmlformats.org/drawingml/2006/main">
            <a:pPr algn="l">
              <a:def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  'Avenida da Liberdade,12,Lisboa,Portugal',</a:t>
            </a:r>
          </a:p>
          <a:p xmlns:a="http://schemas.openxmlformats.org/drawingml/2006/main">
            <a:pPr algn="l">
              <a:def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  ',', 2</a:t>
            </a:r>
          </a:p>
          <a:p xmlns:a="http://schemas.openxmlformats.org/drawingml/2006/main">
            <a:pPr algn="l">
              <a:def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8493F-4C1F-46E2-AAED-9C6814EC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81125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C16E3-5341-4784-B21E-A1C1CFD3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4C1BF-F706-43D1-954F-CD662D2A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Avenida da Liberdade,12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0C217-4E83-4FA6-A9E6-E45A25E7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Um número positivo conserva as partes contadas a partir do início.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863DE-85E6-454D-A369-386B6459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19500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Um número negativo conta a partir do fim. O valor -1 devolve a última parte.</a:t>
            </a:r>
          </a:p>
        </p:txBody>
      </p:sp>
    </p:spTree>
    <p:extLst>
      <p:ext uri="{BB962C8B-B14F-4D97-AF65-F5344CB8AC3E}">
        <p14:creationId xmlns:p14="http://schemas.microsoft.com/office/powerpoint/2010/main" val="47603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485F9-3CF8-405D-B8A5-A2DFCADE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4F497-8F59-4100-9ABF-DF90F043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D0322-E752-42F0-9684-A401ACD0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Um género de cada vez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DFB59-F75F-4F93-ACED-60ACD71A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BBAD5-4943-4A02-AEF1-71B7C6AC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52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Valor original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A7FBF-BE59-40B7-808A-9E83358F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90700"/>
            <a:ext cx="1076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D8800-6F0A-4EE7-8B84-A82C89B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Animation,Comedy,Romance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E976A-F33A-49DD-82C9-2D707D28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3000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3EE9F-A26A-4F32-B448-181F86CD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1.º género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461CA-64E3-475E-AC03-6875431F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Animation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CDE7A-F46D-4489-A6F4-78B5FD74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48000"/>
            <a:ext cx="3000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40AEE-B930-48AC-B789-68B2F1AA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2.º género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E76EA-2E52-42F0-9008-7D9923B8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Comedy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987C3-AB69-4611-8D89-424720BC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48000"/>
            <a:ext cx="3000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E363F-43E5-45F5-B9F5-F0414533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3850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3.º género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1CF17-9010-41F4-B02F-E5360A55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Romance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C41AE-DC18-4D2B-BFD2-223F006A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B1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2B134"/>
                </a:solidFill>
                <a:latin typeface="Helvetica Neue"/>
                <a:ea typeface="Helvetica Neue"/>
                <a:cs typeface="Helvetica Neue"/>
              </a:rPr>
              <a:t>Desafio: construir uma única lista de géneros distintos.</a:t>
            </a:r>
          </a:p>
        </p:txBody>
      </p:sp>
    </p:spTree>
    <p:extLst>
      <p:ext uri="{BB962C8B-B14F-4D97-AF65-F5344CB8AC3E}">
        <p14:creationId xmlns:p14="http://schemas.microsoft.com/office/powerpoint/2010/main" val="1690486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199F2-EAEC-497C-904E-E1842B00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444D9-DA00-4161-A785-F000A7B9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CABE0-FA4A-4E69-8718-A57378F9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 caminho entre as tabelas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EC537-B2B8-41C4-BAF0-E5EE6542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9D854-D06E-44C3-94F1-EE45BEAD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AA749-F9C6-45C9-A9E3-1004CB0F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08DAE-192F-4E0D-ADDE-C05AD780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namebasics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318AB-ECFA-4689-8D61-5AEF846D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PK nconst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primaryName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68F6C-61B1-4857-8A75-00453FF8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3BC41-54DA-4E7D-B248-5291624B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AB0B6-2716-4A4D-A6C6-2ADE2A41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titleprincipals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F0C63-116F-48DB-BA56-A55925A9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FK nconst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FK tconst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BB994-5D39-472F-9A54-05D18D1D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3B6DC-DB7A-4E25-9307-CE589A5E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4E98D-A0C6-4BE6-B2BE-4446085C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titlebasics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BEBAE-04A1-46EF-A7CD-85128B2D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PK tconst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genres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84D9E-65F5-4F7C-8447-D2046D57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nconst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E9B68-3B54-4968-854E-CC240540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71750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tconst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1213B-0A84-45BC-ACDB-7FE3006F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A consulta percorre a pessoa, as suas participações e as obras onde estão os géneros.</a:t>
            </a:r>
          </a:p>
        </p:txBody>
      </p:sp>
    </p:spTree>
    <p:extLst>
      <p:ext uri="{BB962C8B-B14F-4D97-AF65-F5344CB8AC3E}">
        <p14:creationId xmlns:p14="http://schemas.microsoft.com/office/powerpoint/2010/main" val="766566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AE667-547F-4B5E-B9E0-257E4F01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38533-5E0F-453F-81A8-F01254EA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180C9-0EC2-4DEA-AEE7-1FE18FA3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Contar obras por género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07EF6-25E8-4A33-A48E-05D20B40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16511-F39E-4F6A-BCE7-50822B6C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consulta deve: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AFB20-27CF-4A37-A839-64871EA9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647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EE9D7-1351-474A-928E-1BF12363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BFA73-D2F9-4A40-BC78-7A874CEA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621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Filtrar primaryName = 'Robert de Niro'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4D757-B3BA-41EF-9EEB-386664E1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647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93FDA-7B89-4876-840D-32B51800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A126F-B663-4490-8748-79EDCC7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432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Ligar as tabelas através de nconst e tconst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99786-D75F-4AC3-90E0-C41616EF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647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0B0AE-AAE0-4E70-9976-BA70967A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1216C-DA3D-4967-9203-5DB32A10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242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Associar cada obra aos géneros encontrados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52B08-C0D4-4CA4-B3A5-D0C9ABB6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647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3BAF8-AD79-409F-BC94-FB423A3C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14260-ECDB-40DA-94F4-F2D1DADD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053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Contar tconst distintos e agrupar por género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02CD6-2E41-4CA5-A33B-0DF587CF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A solução SQL fica deliberadamente fora dos slides.</a:t>
            </a:r>
          </a:p>
        </p:txBody>
      </p:sp>
    </p:spTree>
    <p:extLst>
      <p:ext uri="{BB962C8B-B14F-4D97-AF65-F5344CB8AC3E}">
        <p14:creationId xmlns:p14="http://schemas.microsoft.com/office/powerpoint/2010/main" val="15175286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1F7BA-7670-40FA-9829-2237AF37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11B76-7EE8-43C9-A186-EA890D7D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68BC3-6055-4ACA-833D-8167F1CA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Conservar apenas o maior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EB105-F176-421F-86AE-B19DE824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0167A-8B97-4B1D-848A-C0A65FFF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DFE5D-EB53-47DF-9EA5-11E4D3A4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HAVING total &gt;= ALL (subconsulta)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99D6D-A37F-4AB2-BEB6-9C150717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 total de um género tem de ser maior ou igual a todos os totais devolvidos pela subconsulta.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A7BC1-1113-4B9D-B8B3-14061F4D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876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D2E9B-FBA6-4054-80CE-A1706D50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14875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Se existir empate no máximo, aparecem todos os géneros empatados.</a:t>
            </a:r>
          </a:p>
        </p:txBody>
      </p:sp>
    </p:spTree>
    <p:extLst>
      <p:ext uri="{BB962C8B-B14F-4D97-AF65-F5344CB8AC3E}">
        <p14:creationId xmlns:p14="http://schemas.microsoft.com/office/powerpoint/2010/main" val="8927911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B137C-ED40-4A46-994C-D34399B5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53501-C0E4-4A5D-AE3F-1218C62A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FC243-3921-469F-8BDE-8F561328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View e tabela: tempos medidos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F2AD0-0576-49B5-B594-53F8FEC2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1095375" y="1381125"/>
          <a:ext xmlns:a="http://schemas.openxmlformats.org/drawingml/2006/main" cx="1000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39ecad72fc40b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73FE4-60D1-4950-8D4C-B3883F41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Medições da resolução original. Os valores absolutos dependem do ambiente.</a:t>
            </a:r>
          </a:p>
        </p:txBody>
      </p:sp>
    </p:spTree>
    <p:extLst>
      <p:ext uri="{BB962C8B-B14F-4D97-AF65-F5344CB8AC3E}">
        <p14:creationId xmlns:p14="http://schemas.microsoft.com/office/powerpoint/2010/main" val="4600519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280E1-EC08-42BC-B335-061A0D63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0D151-FCA6-428D-9E5A-505565CB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6A64E-C167-4034-AD90-38D64884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View ou tabela?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00FF0-91D9-42E5-ABCC-FC0CC65F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2F147-DA15-4D7A-86AF-77851A3F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81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CBC3F-2FD0-4E96-913E-29B796EA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TABELA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8CB36-C05E-4C3D-9D2A-344346C8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2713C-AEB1-4638-BE97-31DF077A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3905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Guarda a definição da consulta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Reflete os dados atuais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Pode repetir cálculos caros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AB449-EE68-45B2-9447-3B4FDF5A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47875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79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84CC4-E8C3-4941-8002-FAA3ED13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33625"/>
            <a:ext cx="3905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Guarda as linhas calculadas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Exige atualização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Evita repetir a separação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C6C7F-1882-4286-A624-EF8A2FA8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A escolha depende do custo do cálculo e da necessidade de ter dados sempre atuais.</a:t>
            </a:r>
          </a:p>
        </p:txBody>
      </p:sp>
    </p:spTree>
    <p:extLst>
      <p:ext uri="{BB962C8B-B14F-4D97-AF65-F5344CB8AC3E}">
        <p14:creationId xmlns:p14="http://schemas.microsoft.com/office/powerpoint/2010/main" val="21288695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28D9B-C675-4262-B0E0-D568043A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94030-0710-44FF-95BE-AE9DEA09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1AEE6-92A6-4BB4-8EDD-D27A3689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Um modelo relacional mais adequado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C3939-213B-4E06-A7FE-007E91B3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B5265-426D-45E6-B429-7BCF7FC0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E617D-C307-4D46-84DD-EF6DF8A1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titlebasics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17236-F3D7-416B-82A9-55A07BFB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uma linha por obra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65AE1-4CDF-4C82-8F38-2A8DBADB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A2E4A-9DDF-41D1-B416-0F24A04B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title_genre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C5221-2995-42AB-AE9C-9AB96615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383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uma linha por associação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951E6-8BBA-4BCD-A01F-C718A4F4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FB959-0CAE-4895-9B0A-F989B002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66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genre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EE36B-EB3A-4284-9CEB-374B8290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uma linha por género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CF739-E9F1-49A5-8AB0-EDD65C8C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5262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B1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2B134"/>
                </a:solidFill>
                <a:latin typeface="Helvetica Neue"/>
                <a:ea typeface="Helvetica Neue"/>
                <a:cs typeface="Helvetica Neue"/>
              </a:rPr>
              <a:t>1—N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FCBAA-57DD-4D2C-B058-94593C8D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B1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2B134"/>
                </a:solidFill>
                <a:latin typeface="Helvetica Neue"/>
                <a:ea typeface="Helvetica Neue"/>
                <a:cs typeface="Helvetica Neue"/>
              </a:rPr>
              <a:t>N—1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B2451-F879-4764-A1E9-BA5A7C2A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E9EC"/>
          </a:solidFill>
          <a:ln xmlns:a="http://schemas.openxmlformats.org/drawingml/2006/main" w="19050">
            <a:solidFill>
              <a:srgbClr val="B7354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0FA51-5D86-4B8C-82E9-805B8D6A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35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73546"/>
                </a:solidFill>
                <a:latin typeface="Helvetica Neue"/>
                <a:ea typeface="Helvetica Neue"/>
                <a:cs typeface="Helvetica Neue"/>
              </a:rPr>
              <a:t>Vários géneros dentro de genres impedem criar um índice normal sobre cada género. O índice veria a string completa.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6A34D-3E76-4014-8D89-44E7F612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971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89C1E-A895-40C5-A412-08774112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3870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Índices sugeridos: UNIQUE genre(name) · PK title_genre(tconst, genre_id) · INDEX title_genre(genre_id, tconst)</a:t>
            </a:r>
          </a:p>
        </p:txBody>
      </p:sp>
    </p:spTree>
    <p:extLst>
      <p:ext uri="{BB962C8B-B14F-4D97-AF65-F5344CB8AC3E}">
        <p14:creationId xmlns:p14="http://schemas.microsoft.com/office/powerpoint/2010/main" val="19512264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8AE4A-3F5B-4881-9EAC-4B25FD96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09017-EF00-43EC-9F7A-8F48DDE4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41FA8-6A19-49AF-B91D-7B0EAA03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Questões para a aula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F7D63-F19A-4FEA-801E-5ADF95B0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33162-0AEB-492D-BF4A-709AA766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647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EE41F-A41F-4CFE-BD56-A6671793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47800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40B7C-F2FD-40E0-8B6C-65350549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620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Porque não basta GROUP BY genres?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A4EA9-D7F3-48C1-B684-1DD025E2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647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B6554-5AF5-42A0-ABCE-8DD6B014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F084E-EE91-4013-A4BA-75EB019C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622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Quando compensa materializar o resultado?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87C7B-4520-4265-954A-DCCE0626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647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DCE9E-27F9-47A4-BDF9-CC2E56F7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48050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548EA-8225-43EA-AD82-747E1862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6232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Que PK deve ter title_genre?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2AAEC-7FD4-4F28-83A6-FFD70FB4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647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4232F-C342-4B15-8ADD-E52E7B3C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481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D2077-7A28-4D32-AE41-982CE6B4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624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Que índices ajudariam no modelo normalizado?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7F538-2024-44BB-9930-DED85F7C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As respostas e os comandos completos estão disponíveis no guião Web.</a:t>
            </a:r>
          </a:p>
        </p:txBody>
      </p:sp>
    </p:spTree>
    <p:extLst>
      <p:ext uri="{BB962C8B-B14F-4D97-AF65-F5344CB8AC3E}">
        <p14:creationId xmlns:p14="http://schemas.microsoft.com/office/powerpoint/2010/main" val="1894967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2026-10-02T14:39:42.0750000Z</dcterms:created>
  <dcterms:modified xsi:type="dcterms:W3CDTF">2026-10-02T14:39:42.0750000Z</dcterms:modified>
</coreProperties>
</file>