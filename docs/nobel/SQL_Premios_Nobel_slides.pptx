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d6dddde50f4887" /><Relationship Type="http://schemas.openxmlformats.org/officeDocument/2006/relationships/extended-properties" Target="/docProps/app.xml" Id="Re0aba69957354d4d" /><Relationship Type="http://schemas.openxmlformats.org/officeDocument/2006/relationships/officeDocument" Target="/ppt/presentation.xml" Id="R6b520c1daf08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81e6ef0ac450f"/>
  </p:sldMasterIdLst>
  <p:notesMasterIdLst>
    <p:notesMasterId xmlns:r="http://schemas.openxmlformats.org/officeDocument/2006/relationships" r:id="Rfdb2f8e6502b4b7f"/>
  </p:notesMasterIdLst>
  <p:sldIdLst>
    <p:sldId xmlns:r="http://schemas.openxmlformats.org/officeDocument/2006/relationships" id="256" r:id="R64251b697fde47f3"/>
    <p:sldId xmlns:r="http://schemas.openxmlformats.org/officeDocument/2006/relationships" id="257" r:id="Ra3c65bef8ade416e"/>
    <p:sldId xmlns:r="http://schemas.openxmlformats.org/officeDocument/2006/relationships" id="258" r:id="R2934cae6ee764ede"/>
    <p:sldId xmlns:r="http://schemas.openxmlformats.org/officeDocument/2006/relationships" id="259" r:id="Re3dbc1162d98428a"/>
    <p:sldId xmlns:r="http://schemas.openxmlformats.org/officeDocument/2006/relationships" id="260" r:id="Rb54d0b25e0314b56"/>
    <p:sldId xmlns:r="http://schemas.openxmlformats.org/officeDocument/2006/relationships" id="261" r:id="R2c1cd5f9665e40fe"/>
    <p:sldId xmlns:r="http://schemas.openxmlformats.org/officeDocument/2006/relationships" id="262" r:id="R647365772db44c01"/>
    <p:sldId xmlns:r="http://schemas.openxmlformats.org/officeDocument/2006/relationships" id="263" r:id="R5f0b71d658b34d8a"/>
    <p:sldId xmlns:r="http://schemas.openxmlformats.org/officeDocument/2006/relationships" id="264" r:id="R6bc38c6f19674f19"/>
    <p:sldId xmlns:r="http://schemas.openxmlformats.org/officeDocument/2006/relationships" id="265" r:id="R9324d6f32ea14fcc"/>
    <p:sldId xmlns:r="http://schemas.openxmlformats.org/officeDocument/2006/relationships" id="266" r:id="R552d50ab29be4c70"/>
    <p:sldId xmlns:r="http://schemas.openxmlformats.org/officeDocument/2006/relationships" id="267" r:id="R02e5b674886a43a9"/>
    <p:sldId xmlns:r="http://schemas.openxmlformats.org/officeDocument/2006/relationships" id="268" r:id="Rd1fb21a6114847a9"/>
    <p:sldId xmlns:r="http://schemas.openxmlformats.org/officeDocument/2006/relationships" id="269" r:id="Re8aa8074a8c9466b"/>
    <p:sldId xmlns:r="http://schemas.openxmlformats.org/officeDocument/2006/relationships" id="270" r:id="R9acb97120251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6a6f676bf64201" /><Relationship Type="http://schemas.openxmlformats.org/officeDocument/2006/relationships/slideMaster" Target="/ppt/slideMasters/slideMaster1.xml" Id="R26a81e6ef0ac450f" /><Relationship Type="http://schemas.openxmlformats.org/officeDocument/2006/relationships/notesMaster" Target="/ppt/notesMasters/notesMaster1.xml" Id="Rfdb2f8e6502b4b7f" /><Relationship Type="http://schemas.openxmlformats.org/officeDocument/2006/relationships/presProps" Target="/ppt/presProps.xml" Id="R558c279dcb6c4ab0" /><Relationship Type="http://schemas.openxmlformats.org/officeDocument/2006/relationships/tableStyles" Target="/ppt/tableStyles.xml" Id="R8eda34efd5484b6c" /><Relationship Type="http://schemas.openxmlformats.org/officeDocument/2006/relationships/slide" Target="/ppt/slides/slide1.xml" Id="R64251b697fde47f3" /><Relationship Type="http://schemas.openxmlformats.org/officeDocument/2006/relationships/slide" Target="/ppt/slides/slide2.xml" Id="Ra3c65bef8ade416e" /><Relationship Type="http://schemas.openxmlformats.org/officeDocument/2006/relationships/slide" Target="/ppt/slides/slide3.xml" Id="R2934cae6ee764ede" /><Relationship Type="http://schemas.openxmlformats.org/officeDocument/2006/relationships/slide" Target="/ppt/slides/slide4.xml" Id="Re3dbc1162d98428a" /><Relationship Type="http://schemas.openxmlformats.org/officeDocument/2006/relationships/slide" Target="/ppt/slides/slide5.xml" Id="Rb54d0b25e0314b56" /><Relationship Type="http://schemas.openxmlformats.org/officeDocument/2006/relationships/slide" Target="/ppt/slides/slide6.xml" Id="R2c1cd5f9665e40fe" /><Relationship Type="http://schemas.openxmlformats.org/officeDocument/2006/relationships/slide" Target="/ppt/slides/slide7.xml" Id="R647365772db44c01" /><Relationship Type="http://schemas.openxmlformats.org/officeDocument/2006/relationships/slide" Target="/ppt/slides/slide8.xml" Id="R5f0b71d658b34d8a" /><Relationship Type="http://schemas.openxmlformats.org/officeDocument/2006/relationships/slide" Target="/ppt/slides/slide9.xml" Id="R6bc38c6f19674f19" /><Relationship Type="http://schemas.openxmlformats.org/officeDocument/2006/relationships/slide" Target="/ppt/slides/slide10.xml" Id="R9324d6f32ea14fcc" /><Relationship Type="http://schemas.openxmlformats.org/officeDocument/2006/relationships/slide" Target="/ppt/slides/slide11.xml" Id="R552d50ab29be4c70" /><Relationship Type="http://schemas.openxmlformats.org/officeDocument/2006/relationships/slide" Target="/ppt/slides/slide12.xml" Id="R02e5b674886a43a9" /><Relationship Type="http://schemas.openxmlformats.org/officeDocument/2006/relationships/slide" Target="/ppt/slides/slide13.xml" Id="Rd1fb21a6114847a9" /><Relationship Type="http://schemas.openxmlformats.org/officeDocument/2006/relationships/slide" Target="/ppt/slides/slide14.xml" Id="Re8aa8074a8c9466b" /><Relationship Type="http://schemas.openxmlformats.org/officeDocument/2006/relationships/slide" Target="/ppt/slides/slide15.xml" Id="R9acb97120251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0448087f447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86601b3a064490" /><Relationship Type="http://schemas.openxmlformats.org/officeDocument/2006/relationships/notesMaster" Target="/ppt/notesMasters/notesMaster1.xml" Id="Re68586eb6beb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dc96b7df34104" /><Relationship Type="http://schemas.openxmlformats.org/officeDocument/2006/relationships/notesMaster" Target="/ppt/notesMasters/notesMaster1.xml" Id="R9c42f932dea241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85dac235e243c1" /><Relationship Type="http://schemas.openxmlformats.org/officeDocument/2006/relationships/notesMaster" Target="/ppt/notesMasters/notesMaster1.xml" Id="R9acf555caadd4e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b5e6faebc4a3f" /><Relationship Type="http://schemas.openxmlformats.org/officeDocument/2006/relationships/notesMaster" Target="/ppt/notesMasters/notesMaster1.xml" Id="Rdc9f50c5d38e4e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8e9ac507a4a1a" /><Relationship Type="http://schemas.openxmlformats.org/officeDocument/2006/relationships/notesMaster" Target="/ppt/notesMasters/notesMaster1.xml" Id="Rae33cc0276224c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df70c44a14f25" /><Relationship Type="http://schemas.openxmlformats.org/officeDocument/2006/relationships/notesMaster" Target="/ppt/notesMasters/notesMaster1.xml" Id="R1068bff8244d41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46248a29e040fd" /><Relationship Type="http://schemas.openxmlformats.org/officeDocument/2006/relationships/notesMaster" Target="/ppt/notesMasters/notesMaster1.xml" Id="Rda4d10524391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c6a88e8f4d4203" /><Relationship Type="http://schemas.openxmlformats.org/officeDocument/2006/relationships/notesMaster" Target="/ppt/notesMasters/notesMaster1.xml" Id="Re14e1b7969fd44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16647f6ac649e1" /><Relationship Type="http://schemas.openxmlformats.org/officeDocument/2006/relationships/notesMaster" Target="/ppt/notesMasters/notesMaster1.xml" Id="Rb2d462581bfc48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41868dcc6d4a16" /><Relationship Type="http://schemas.openxmlformats.org/officeDocument/2006/relationships/notesMaster" Target="/ppt/notesMasters/notesMaster1.xml" Id="Rec758b005b0a4b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dff23bb4364276" /><Relationship Type="http://schemas.openxmlformats.org/officeDocument/2006/relationships/notesMaster" Target="/ppt/notesMasters/notesMaster1.xml" Id="R9cefc00218f54e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19cadd8a854bf1" /><Relationship Type="http://schemas.openxmlformats.org/officeDocument/2006/relationships/notesMaster" Target="/ppt/notesMasters/notesMaster1.xml" Id="Red742d6f8a9449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5cccc355f44961" /><Relationship Type="http://schemas.openxmlformats.org/officeDocument/2006/relationships/notesMaster" Target="/ppt/notesMasters/notesMaster1.xml" Id="R8c50a30ffc4642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27d395e678458f" /><Relationship Type="http://schemas.openxmlformats.org/officeDocument/2006/relationships/notesMaster" Target="/ppt/notesMasters/notesMaster1.xml" Id="Rb3c34b220cd343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0abeb979c7447c" /><Relationship Type="http://schemas.openxmlformats.org/officeDocument/2006/relationships/notesMaster" Target="/ppt/notesMasters/notesMaster1.xml" Id="R19552117e51e42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bb1c1994343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053afd74c0418d" /><Relationship Type="http://schemas.openxmlformats.org/officeDocument/2006/relationships/slideLayout" Target="/ppt/slideLayouts/slideLayout1.xml" Id="Rc04f791ad794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f791ad794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3ffac6bab4be5" /><Relationship Type="http://schemas.openxmlformats.org/officeDocument/2006/relationships/notesSlide" Target="/ppt/notesSlides/notesSlide1.xml" Id="Rb711a9ad86dc43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be9d0c0a34964" /><Relationship Type="http://schemas.openxmlformats.org/officeDocument/2006/relationships/notesSlide" Target="/ppt/notesSlides/notesSlide2.xml" Id="R95325a31b5ac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1dfe50ef84fe8" /><Relationship Type="http://schemas.openxmlformats.org/officeDocument/2006/relationships/notesSlide" Target="/ppt/notesSlides/notesSlide3.xml" Id="R0a04446a32c1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83420b5de4368" /><Relationship Type="http://schemas.openxmlformats.org/officeDocument/2006/relationships/notesSlide" Target="/ppt/notesSlides/notesSlide4.xml" Id="R1e31492f28a241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cc32631674e3a" /><Relationship Type="http://schemas.openxmlformats.org/officeDocument/2006/relationships/notesSlide" Target="/ppt/notesSlides/notesSlide5.xml" Id="R0c5a89f382af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3f2d4b32e4f76" /><Relationship Type="http://schemas.openxmlformats.org/officeDocument/2006/relationships/notesSlide" Target="/ppt/notesSlides/notesSlide6.xml" Id="R474e886e9dcd4e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4bee6062c4bf9" /><Relationship Type="http://schemas.openxmlformats.org/officeDocument/2006/relationships/notesSlide" Target="/ppt/notesSlides/notesSlide7.xml" Id="R99ae7559cc594f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cfc791ac640ed" /><Relationship Type="http://schemas.openxmlformats.org/officeDocument/2006/relationships/notesSlide" Target="/ppt/notesSlides/notesSlide8.xml" Id="Ra3933c4cbae342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8a9b967a4e1d" /><Relationship Type="http://schemas.openxmlformats.org/officeDocument/2006/relationships/notesSlide" Target="/ppt/notesSlides/notesSlide9.xml" Id="R06e3d2a12d1a4a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77d48470e49f4" /><Relationship Type="http://schemas.openxmlformats.org/officeDocument/2006/relationships/notesSlide" Target="/ppt/notesSlides/notesSlide10.xml" Id="Rf51444e7ef1845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b9ded39af4873" /><Relationship Type="http://schemas.openxmlformats.org/officeDocument/2006/relationships/notesSlide" Target="/ppt/notesSlides/notesSlide11.xml" Id="Rfef96bda66b7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36720d25439f" /><Relationship Type="http://schemas.openxmlformats.org/officeDocument/2006/relationships/notesSlide" Target="/ppt/notesSlides/notesSlide12.xml" Id="R44322a02067d41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21b2f267c4c9f" /><Relationship Type="http://schemas.openxmlformats.org/officeDocument/2006/relationships/notesSlide" Target="/ppt/notesSlides/notesSlide13.xml" Id="R2020bd48e6484c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582f8fa684d1c" /><Relationship Type="http://schemas.openxmlformats.org/officeDocument/2006/relationships/notesSlide" Target="/ppt/notesSlides/notesSlide14.xml" Id="R1a4c252c2df24b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7909f066346b0" /><Relationship Type="http://schemas.openxmlformats.org/officeDocument/2006/relationships/notesSlide" Target="/ppt/notesSlides/notesSlide15.xml" Id="R9aeb7a5798de4f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94D82-51B8-4723-9CB8-D7BD268F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rPr>
              <a:t>BASES DE DADOS · AULA 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3676A-84AC-478E-9EAD-278D5D85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 com os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Prémios Nobel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FD671-CD5D-45D5-A934-2F87A288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6E4EB"/>
                </a:solidFill>
                <a:latin typeface="Helvetica Neue"/>
                <a:ea typeface="Helvetica Neue"/>
                <a:cs typeface="Helvetica Neue"/>
              </a:rPr>
              <a:t>Importar, conhecer e preparar uma base de dados real para análise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4CA85-A08B-4268-A47F-75B9703A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3752"/>
          </a:solidFill>
          <a:ln xmlns:a="http://schemas.openxmlformats.org/drawingml/2006/main" w="9525">
            <a:solidFill>
              <a:srgbClr val="4B6B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85351-5712-4A9A-8236-D74F5F7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62125"/>
            <a:ext cx="2286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CREATE DATABASE nobel;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nobel;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/exemplos/exportpremios.sql;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B5D4D-3772-4E08-8236-C8D5F155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D8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6D8E2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</p:spTree>
    <p:extLst>
      <p:ext uri="{BB962C8B-B14F-4D97-AF65-F5344CB8AC3E}">
        <p14:creationId xmlns:p14="http://schemas.microsoft.com/office/powerpoint/2010/main" val="1860535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75106-84ED-4DC9-BAE7-460B1A1D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AD2CD-EC12-4E52-B3C1-E90C6914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Preparar e importar 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AA6D6-6CF9-46F6-A919-FF6D14B4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5C425-217D-4FAB-B3D3-9A8B7698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698EA-9D5E-4B8B-A9DE-8DC36F0F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2E0D0-97DC-4756-B1C8-BF7D13EE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937E9-5280-470A-B97D-8615E7DD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Colocar exportpremios.sql na pasta exemplos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9D1E-C43C-4955-B27C-C23E5EB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0A2AD-2386-4951-80AB-74E9306C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Abrir o terminal do contentor MySQL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16DD7-798F-44D7-8CA4-F52112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8858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DBDAC-6C89-4BD3-8D72-A50084A9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38525"/>
            <a:ext cx="84391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mysql -u root -p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CREATE DATABASE nobel;</a:t>
            </a:r>
          </a:p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USE nobel;</a:t>
            </a:r>
          </a:p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SOURCE /exemplos/exportpremios.sql;</a:t>
            </a:r>
          </a:p>
        </p:txBody>
      </p:sp>
    </p:spTree>
    <p:extLst>
      <p:ext uri="{BB962C8B-B14F-4D97-AF65-F5344CB8AC3E}">
        <p14:creationId xmlns:p14="http://schemas.microsoft.com/office/powerpoint/2010/main" val="703412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2B09B-3676-44AF-A520-DC87573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DC444-F692-453E-98E7-60BA942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Conhecer a estrutura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4AB25-E10B-409D-969C-53563B61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6E1D2-9154-4C06-A5DB-E353FED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E27B6-B461-4F75-9800-11347B20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7E8F6-015C-4608-A045-EF3CAFA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575C5-7B51-4223-B31A-A0145622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4057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SHOW TABLES;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DESCRIBE premios;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1F307-01FF-4DCC-A02E-AE313A0B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SHOW 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A0F4A-A3B6-4356-9B9C-A0AC42C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confirma que a tabela premios foi criada.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083C7-3BE2-4AE8-B77C-3556ADAF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DESCRIBE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FF288-3C37-4CA4-9D38-B82A6A8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mostra o nome, tipo e restrições de cada coluna.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892D6-35F2-4FF5-B109-A36534B0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19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2730-91FB-49DC-AA7A-D37DAD4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395A1-172E-415F-AED5-64960575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791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Os campos estão organizados em identificação, vida e geografia, e três grupos de prémios.</a:t>
            </a:r>
          </a:p>
        </p:txBody>
      </p:sp>
    </p:spTree>
    <p:extLst>
      <p:ext uri="{BB962C8B-B14F-4D97-AF65-F5344CB8AC3E}">
        <p14:creationId xmlns:p14="http://schemas.microsoft.com/office/powerpoint/2010/main" val="1920104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5A19B-1779-4DF1-AC94-E9D5E972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707F1-0B63-4033-9531-0C1B5950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Primeiras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919B5-3FC7-42B0-8C84-53537387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58243-E4B1-4F47-8663-B1615E4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BC2E1-0A80-4E27-917B-1B3CF4C8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53286-F30C-476D-8B1E-7CED8FAA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857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E5A9B-005E-4396-BB8B-4BDE852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4438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SELECT *</a:t>
            </a:r>
          </a:p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FROM premios</a:t>
            </a:r>
          </a:p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LIMIT 5;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E058-F741-4072-95C8-C19C0CD0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857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AA768-0AB3-4F2A-AFF5-2842662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4438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SELECT *</a:t>
            </a:r>
          </a:p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FROM premios</a:t>
            </a:r>
          </a:p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LIMIT 1\G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E9A96-4257-4958-9343-BDAA1F95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Resultado largo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59C85-EA08-464B-8B98-B184408D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 asterisco seleciona todas as colunas.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CFF06-331E-4298-8461-F6BBAD5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Registo na vertical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3622E-4F85-4C21-8EC5-7D5A2EF4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No cliente MySQL, \G apresenta uma coluna por linha.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4CD44-EA7E-486C-8427-DF43CA52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3632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D2A6D-000A-418D-967A-83936FBE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76D99-216A-44DD-9418-46AB0DB3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0175"/>
            <a:ext cx="996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\G é uma opção de apresentação do cliente MySQL. Não faz parte da instrução SQL.</a:t>
            </a:r>
          </a:p>
        </p:txBody>
      </p:sp>
    </p:spTree>
    <p:extLst>
      <p:ext uri="{BB962C8B-B14F-4D97-AF65-F5344CB8AC3E}">
        <p14:creationId xmlns:p14="http://schemas.microsoft.com/office/powerpoint/2010/main" val="1155942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B6077-0A6A-4688-B533-B5EBD684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A7A4F-5B14-4C0A-959F-C39618F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 laureado pode ter vários prémios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759C-3566-45DA-9A1D-4D97BB1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43622-3BA1-403A-AB5E-1D3CADC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D002C-2398-4B23-9A72-3BEE5D63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5681A-82D4-48BA-BA76-37072A9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151F2-E696-4F1C-9AF3-D2DC0922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prizes_0_*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3DD03-64E5-4125-A640-8E96B2B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primeiro prémio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F1686-74C1-4AC2-8F1D-798ECB3E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B8EED-67A1-4E6E-AC02-F1CAE3D7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097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prizes_1_*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F75B8-55F9-4629-BDF5-A2C8718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3362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eventual segundo prémio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7467E-23FC-4BF2-8514-6E72DC48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627C5-6B73-4EB5-B600-BFA2FD2F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prizes_2_*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F8E9A-8620-49C3-BC92-3F07D81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eventual terceiro prémio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35B29-67D8-4ABE-BBE8-E4E473A2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20B04-52BA-4B8D-8018-241249F8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26544-1539-4B30-A6EA-3278B049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988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Desafio: será que alguém tem um segundo prémio? Qual é o comando SQL?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D473C-4053-49BB-9021-400524BB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82971-02E2-45CB-A93E-7985305E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DC770-541C-461E-93B1-90E1716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As respostas ficam disponíveis apenas na página web, mediante palavra-passe.</a:t>
            </a:r>
          </a:p>
        </p:txBody>
      </p:sp>
    </p:spTree>
    <p:extLst>
      <p:ext uri="{BB962C8B-B14F-4D97-AF65-F5344CB8AC3E}">
        <p14:creationId xmlns:p14="http://schemas.microsoft.com/office/powerpoint/2010/main" val="1426293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0E1FA-5D67-424F-AC4A-0F450139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E5335-B011-4E61-BAFA-C1D3816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Contar laureados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F1C5C-2086-4A4D-9D75-9F4824F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8CD09-1638-4943-B098-34B5CCF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5535F-007D-4827-AA9B-24304203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95D5B-550A-4C55-B889-EEA6FFB7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F218F-217C-4A38-B597-F82AD2BD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28775"/>
            <a:ext cx="5772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SELECT COUNT(*) AS total_laureados</a:t>
            </a:r>
          </a:p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FROM premios;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7524750" y="1476375"/>
          <a:ext xmlns:a="http://schemas.openxmlformats.org/drawingml/2006/main" cx="28575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total_laureados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955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E7322-2E70-4EC1-A10C-C528B25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1C9D7-7B66-4B61-A7BE-0C6C70C6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1D819-04B8-40D9-9B3E-84D911E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Pergunta 1: quantos laureados chegaram a um segundo prémio?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9B2A4-6B87-4F4C-950B-C050739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B00DA-BFE0-490A-B772-AA03E2DF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0EB5-1254-40FF-B533-BF43BD5E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Pergunta 2: quantos chegaram a um terceiro prémio?</a:t>
            </a:r>
          </a:p>
        </p:txBody>
      </p:sp>
    </p:spTree>
    <p:extLst>
      <p:ext uri="{BB962C8B-B14F-4D97-AF65-F5344CB8AC3E}">
        <p14:creationId xmlns:p14="http://schemas.microsoft.com/office/powerpoint/2010/main" val="19713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83ECD-B794-491E-84D9-A91BDF9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43A15-AF50-4AE8-A6DD-4886CF1E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Países de nascimento nos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75580-4506-482D-AD4D-D73351FE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35995-B2FC-4A6C-B190-B1197113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62C8A-A26A-4C49-9E25-2454049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4DD9B-D7AE-4D02-9BB6-920943F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095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622A3-1F4D-4C5B-B626-A1B117C2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33525"/>
            <a:ext cx="3676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SELECT bornCountry</a:t>
            </a:r>
          </a:p>
          <a:p xmlns:a="http://schemas.openxmlformats.org/drawingml/2006/main">
            <a:pPr algn="l">
              <a:defRPr sz="17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FROM premios</a:t>
            </a:r>
          </a:p>
          <a:p xmlns:a="http://schemas.openxmlformats.org/drawingml/2006/main">
            <a:pPr algn="l">
              <a:defRPr sz="17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LIMIT 10;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429250" y="1285875"/>
          <a:ext xmlns:a="http://schemas.openxmlformats.org/drawingml/2006/main" cx="53340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</a:tblGrid>
              <a:tr h="40697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bornCountry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France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Hungary (now Slovakia)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Prussia (now Germany)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Luxembourg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Prussia (now Poland)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United Kingdom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Italy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Hesse-Kassel (now Germany)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Russian Empire (now Poland)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Netherlands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6BFAD-DB6A-4F44-BE50-6067A5B6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Alguns valores misturam uma designação histórica e o país atual.</a:t>
            </a:r>
          </a:p>
        </p:txBody>
      </p:sp>
    </p:spTree>
    <p:extLst>
      <p:ext uri="{BB962C8B-B14F-4D97-AF65-F5344CB8AC3E}">
        <p14:creationId xmlns:p14="http://schemas.microsoft.com/office/powerpoint/2010/main" val="766279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2B067-9F72-4113-B6CD-724D166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56524-FFB1-44E7-86C2-C7E83340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Objetivo final para os países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2AAFE-D5E9-4266-B7CB-4EC1B1D4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42DD0-9573-47D1-9F50-21720B8B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83EF9-41AF-4B0A-81BF-5F21FED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98D2A-B594-4E77-8894-07A95148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83854-773E-425D-B2C0-A79B4F8C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D0629-AFE7-4AC7-BB06-7DC8B434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764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premios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B892B-F858-4F62-BE8E-2DAD2D98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id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bornCountry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bornCountryCode  futura FK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4B882-E52F-46C9-B579-44C613A7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19375"/>
            <a:ext cx="2333625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D2954-7C1A-4F60-92A1-9852574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ligação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DA84D-44AB-4381-814D-F4E9F57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D0229-877D-466C-95DB-8817188A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D103D-2C77-4183-B856-E70A505B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764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154A3-B084-4153-8805-F9E687C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code  futura PK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designacao_atual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353E9-42FF-4ACA-951B-DAED231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09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78015-557D-429D-8545-674BEF0B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D12AE-F9C9-45F5-B78D-E68B5382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969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Primeiro construímos e limpamos a lista de países. A PK e a FK só serão criadas no fim.</a:t>
            </a:r>
          </a:p>
        </p:txBody>
      </p:sp>
    </p:spTree>
    <p:extLst>
      <p:ext uri="{BB962C8B-B14F-4D97-AF65-F5344CB8AC3E}">
        <p14:creationId xmlns:p14="http://schemas.microsoft.com/office/powerpoint/2010/main" val="103697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A619D-B972-4F77-B0BA-75558CF6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3B3F6-6168-4641-AE3B-8B563F63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Separar texto com SUBSTRING_INDEX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D7EEA-B480-4947-86E6-9DD34C3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E7D6-8E9D-4560-833D-6FF24A7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312F5-6568-4845-A942-6C65C4F6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89006-43BC-4F96-A5B8-2E6285BC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429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305E1-FCF3-40AC-A49A-1D1C4A9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33525"/>
            <a:ext cx="7010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SUBSTRING_INDEX('aluno@universidade.exemplo', '@', 1) AS utilizador,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SUBSTRING_INDEX('aluno@universidade.exemplo', '@', -1) AS dominio;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476625"/>
          <a:ext xmlns:a="http://schemas.openxmlformats.org/drawingml/2006/main" cx="7429500" cy="109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</a:tblGrid>
              <a:tr h="5476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utilizador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dominio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aluno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universidade.exemplo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E04C5-C877-41EF-A8C1-0B290949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Quantidade positiva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534CB-73F9-41A9-BE94-8B63DE82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conserva a parte da esquerda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9C5BA-5253-4F29-B9B2-C23F839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Quantidade negativa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36198-A6EE-4122-971F-08526177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conserva a parte da direita</a:t>
            </a:r>
          </a:p>
        </p:txBody>
      </p:sp>
    </p:spTree>
    <p:extLst>
      <p:ext uri="{BB962C8B-B14F-4D97-AF65-F5344CB8AC3E}">
        <p14:creationId xmlns:p14="http://schemas.microsoft.com/office/powerpoint/2010/main" val="1738226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DADEE-C658-4AC5-A7CA-E96A33D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947EC-6ECB-4755-8CEF-2DB314BB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Desafio: separar países históricos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A89D4-CDA9-4052-BAE6-E649224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1A74E-68B7-4C14-9067-EDFF8AF7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37117-2CC0-49D9-8200-A579428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A7B8D-2F34-478F-A6EA-5B888EC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Produzir quatro colunas para os valores com (now ...)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2870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286000"/>
                <a:gridCol w="2286000"/>
                <a:gridCol w="2286000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campo_original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pais_antigo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pais_atual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codigo_atual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Prussia (now Germany)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Prussia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Germany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F6698-E466-48AE-B0C9-B4C5FF47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1A56-3C7B-479A-BD6A-CC8D8BF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3496B-CC4B-44AD-A650-C3156266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88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TRIM retira espaços no início e no fim. Um segundo SUBSTRING_INDEX pode retirar o parêntese final.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A63FA-6153-4158-89C7-22155FB9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9493F-733F-4A7F-AFEF-884E76D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C7E0F-F03F-4429-8413-A5B08B9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Escrever o SELECT completo. A solução fica apenas na página web.</a:t>
            </a:r>
          </a:p>
        </p:txBody>
      </p:sp>
    </p:spTree>
    <p:extLst>
      <p:ext uri="{BB962C8B-B14F-4D97-AF65-F5344CB8AC3E}">
        <p14:creationId xmlns:p14="http://schemas.microsoft.com/office/powerpoint/2010/main" val="325455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C34E6-DD5C-498D-8066-3C0319A5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90AFD-F11C-45A9-B713-2C34A46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Tabela pais provisória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2796D-8AB9-4841-91A1-4BCDDA53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BF2B-16AC-4DBB-AAA4-CE15F69D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49277-BFF8-4A93-A127-D898511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F3DE0-37AD-4D2D-9CEB-BD9A1DC6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09F5C-DEC3-4CDF-B60A-3A501898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4533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CREATE TABLE pais (</a:t>
            </a:r>
          </a:p>
          <a:p xmlns:a="http://schemas.openxmlformats.org/drawingml/2006/main">
            <a:pPr algn="l">
              <a:def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code VARCHAR(10),</a:t>
            </a:r>
          </a:p>
          <a:p xmlns:a="http://schemas.openxmlformats.org/drawingml/2006/main">
            <a:pPr algn="l">
              <a:def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designacao_atual VARCHAR(200) NOT NULL</a:t>
            </a:r>
          </a:p>
          <a:p xmlns:a="http://schemas.openxmlformats.org/drawingml/2006/main">
            <a:pPr algn="l">
              <a:def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441AF-8E0A-4060-ABAA-8F1722B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Ainda sem chave primária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547C7-6C63-4D15-82B6-1E1FEBD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Os dados podem revelar códigos repetidos e designações incoerentes.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5DE7F-CA50-4A32-B09F-37A9F94D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914B3-E010-4508-9535-9A455262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96E0B-F792-4D08-9531-23AF21A2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Desafio: escrever um INSERT ... SELECT a partir de bornCountry e bornCountryCode.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87742-9657-49C9-8EAE-E802A0D1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D601A-A755-4B56-BF5F-53A904D6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220D7-17AC-431E-848B-7DC1CA2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Nesta fase, não resolver todas as repetições.</a:t>
            </a:r>
          </a:p>
        </p:txBody>
      </p:sp>
    </p:spTree>
    <p:extLst>
      <p:ext uri="{BB962C8B-B14F-4D97-AF65-F5344CB8AC3E}">
        <p14:creationId xmlns:p14="http://schemas.microsoft.com/office/powerpoint/2010/main" val="1883587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A0C20-2AFD-4BC6-B855-EDF36746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0D7A7-E445-4CF7-AD9A-4CD04D5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Países de falecimento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08998-0D7A-4F97-8BB3-CE8BE850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0114-F8D2-459A-90B2-0888274D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4CF6D-00CB-440F-9394-282EE2A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54731-384E-41C8-9868-723E9D57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20410-F624-4C1D-8B06-13756961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7098A-D067-42A5-8F97-64FB0EE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95425"/>
            <a:ext cx="988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Pergunta: há códigos em diedCountryCode que nunca aparecem em bornCountryCode?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76B6C-0545-4447-AB57-3A72CC8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Se existirem, a tabela pais baseada apenas nos nascimentos ficará incompleta.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21E2B-899C-4FB0-A64A-54C66031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28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61593-3867-4F3C-B6B8-6ED9EB78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E1C25-CA66-43EA-89DF-5B4D1AC4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988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Desafio: adaptar o INSERT para diedCountry e diedCountryCode, evitando combinações já existentes.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F8BCD-FE26-4F7E-A864-5BCAFD3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solução deve comparar código e designação antes de inserir.</a:t>
            </a:r>
          </a:p>
        </p:txBody>
      </p:sp>
    </p:spTree>
    <p:extLst>
      <p:ext uri="{BB962C8B-B14F-4D97-AF65-F5344CB8AC3E}">
        <p14:creationId xmlns:p14="http://schemas.microsoft.com/office/powerpoint/2010/main" val="14115574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8119D-D598-4765-A4AA-36E3AC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51FC6-D264-483C-AE2A-71E14D2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Teste da chave primária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CC0F4-9427-4FED-8D46-1C716171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3166-080A-4F66-B2A7-BF18EE1C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25294-D40D-48E5-AE50-DFFAE9E9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A307B-337C-45B7-912D-A50B2B2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4C306-E101-43A9-841C-AAF637C8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4533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ALTER TABLE pais</a:t>
            </a:r>
          </a:p>
          <a:p xmlns:a="http://schemas.openxmlformats.org/drawingml/2006/main">
            <a:pPr algn="l">
              <a:def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ADD PRIMARY KEY (code);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D5C10-78E0-4115-A4CF-7DBBCEF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2B1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1DCFE-49EF-45C1-9F39-F73E2E01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rPr>
              <a:t>ERROR 1062</a:t>
            </a:r>
          </a:p>
          <a:p xmlns:a="http://schemas.openxmlformats.org/drawingml/2006/main">
            <a:pPr algn="l">
              <a:defRPr sz="157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rPr>
              <a:t>Duplicate entry '...' for key 'pais.PRIMARY'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1E679-4700-48D4-9CC6-4B936E7E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Perguntas para investigar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7E6CE-F431-4EB2-BAD1-399312F0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2047F-7CC4-4CE7-9BC4-2FB569C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AB44E-8643-4383-BC8F-5B2649D8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36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Que códigos aparecem mais do que uma vez?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D07E1-A2C0-4BF9-8C50-443A1BA1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8A29C-D8DC-4872-A84D-1F6C3FB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B0ADC-EBC8-4A33-BB23-20F16AB1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436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Que designações estão associadas a DK e GB?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7F3E7-AA99-404E-96A1-6D7A6513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Usar GROUP BY, COUNT(*) e HAVING. Depois consultar as linhas de DK e GB.</a:t>
            </a:r>
          </a:p>
        </p:txBody>
      </p:sp>
    </p:spTree>
    <p:extLst>
      <p:ext uri="{BB962C8B-B14F-4D97-AF65-F5344CB8AC3E}">
        <p14:creationId xmlns:p14="http://schemas.microsoft.com/office/powerpoint/2010/main" val="841188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F39B-4E4F-4AC9-B510-DF200769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B3185-7C1E-4661-881D-06D4CED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Limpeza das designações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AD218-AB91-4D34-ADA8-4DB3928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D23DA-9471-4412-B7A2-7EC9082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B5B6A-D2F4-4831-98A9-F2E3FA9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D85AB-1B76-4E35-A4EC-2080F6BF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Decisão usada no guião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4762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23850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designacao_atual</a:t>
                      </a:r>
                    </a:p>
                  </a:txBody>
                  <a:tcPr marL="95250" marR="95250" marT="57150" marB="57150">
                    <a:solidFill>
                      <a:srgbClr val="087F8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DK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Denmark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GB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United Kingdom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17144-7A8A-485C-B0CB-88D85F05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5000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D0F46-7C80-4513-9536-ADA2E315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66900"/>
            <a:ext cx="45815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UPDATE pais SET designacao_atual = 'Denmark' WHERE code = 'DK';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UPDATE pais SET designacao_atual = 'United Kingdom' WHERE code = 'GB';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77BED-5EE7-4AA4-AEAD-86B4CA13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36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38EDE-D130-494A-91B0-1688EC26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B9AFC-6681-4B27-9D49-3ABE6544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996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Os campos originais de premios conservam as designações históricas e regionais.</a:t>
            </a:r>
          </a:p>
        </p:txBody>
      </p:sp>
    </p:spTree>
    <p:extLst>
      <p:ext uri="{BB962C8B-B14F-4D97-AF65-F5344CB8AC3E}">
        <p14:creationId xmlns:p14="http://schemas.microsoft.com/office/powerpoint/2010/main" val="3234664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F78DE-853B-4952-AC1A-0257B4A1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BF6A4-7D1E-41A9-A3C3-7D466EE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Tabela temporária e 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4516F-5594-4AD5-8138-E345C3A3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8B00A-FF76-4A00-B4E6-5DD9CCF0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SQL com os Prémios Nobel ·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84A95-2D5B-4E76-9B45-7CB3842C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F292B-57EE-4EF2-85DC-852D78C7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Uma tabela temporária existe apenas na sessão atual do MySQL. Serve como cópia de trabalho e desaparece quando a ligação termina.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2871D-8520-487B-A1AB-395D683F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9525">
            <a:solidFill>
              <a:srgbClr val="0D22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343DA-F5EC-4B8D-A713-943C6B0E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68199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CREATE TEMPORARY TABLE pais_unicos AS</a:t>
            </a:r>
          </a:p>
          <a:p xmlns:a="http://schemas.openxmlformats.org/drawingml/2006/main">
            <a:pPr algn="l">
              <a:def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SELECT DISTINCT code, designacao_atual FROM pais;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TRUNCATE TABLE pais;</a:t>
            </a:r>
          </a:p>
          <a:p xmlns:a="http://schemas.openxmlformats.org/drawingml/2006/main">
            <a:pPr algn="l">
              <a:def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INSERT INTO pais SELECT * FROM pais_unicos;</a:t>
            </a:r>
          </a:p>
          <a:p xmlns:a="http://schemas.openxmlformats.org/drawingml/2006/main">
            <a:pPr algn="l">
              <a:def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DROP TEMPORARY TABLE pais_unicos;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ALTER TABLE pais ADD PRIMARY KEY (code);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9D365-DFEF-464C-896F-B97A7080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619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EF3F1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99CF3-8BC3-47A3-B5A5-46F70BB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14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88 linhas</a:t>
            </a:r>
          </a:p>
          <a:p xmlns:a="http://schemas.openxmlformats.org/drawingml/2006/main">
            <a:pPr algn="ctr">
              <a:def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88 códigos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6FFAD-0502-42A4-8C90-E2D43D34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619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7ED77-0FC2-4200-AE42-D42445C1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2BAC6-EB8D-4650-805A-DBB7B404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52925"/>
            <a:ext cx="22193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Fase seguinte: criar em premios as FKs de bornCountryCode e diedCountryCode para pais.code.</a:t>
            </a:r>
          </a:p>
        </p:txBody>
      </p:sp>
    </p:spTree>
    <p:extLst>
      <p:ext uri="{BB962C8B-B14F-4D97-AF65-F5344CB8AC3E}">
        <p14:creationId xmlns:p14="http://schemas.microsoft.com/office/powerpoint/2010/main" val="735485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2026-10-02T13:25:46.2460000Z</dcterms:created>
  <dcterms:modified xsi:type="dcterms:W3CDTF">2026-10-02T13:25:46.2460000Z</dcterms:modified>
</coreProperties>
</file>