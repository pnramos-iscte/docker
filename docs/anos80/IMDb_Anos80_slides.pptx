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Tempo (s)</c:v>
                </c:pt>
              </c:strCache>
            </c:strRef>
          </c:tx>
          <c:spPr>
            <a:solidFill>
              <a:srgbClr val="B735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735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3795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Sem índice</c:v>
                  </c:pt>
                  <c:pt idx="1">
                    <c:v>Com índice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33.11</c:v>
                </c:pt>
                <c:pt idx="1">
                  <c:v>0.49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 w="12700" cap="flat">
          <a:solidFill>
            <a:srgbClr val="F4F7F8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· IMDB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75520" y="12801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6D8E2"/>
                </a:solidFill>
              </a:rPr>
              <a:t>Pedro Ramos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55624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087F8C"/>
                </a:solidFill>
              </a:rPr>
              <a:t>BASES DE DADOS · EXERCÍCIO GUIADO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2881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9601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45BC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BASES DE DADOS · EXERCÍCIO GUIADO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58368" y="1536192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Anos 80, Woody Allen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índices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85800" y="318211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D6E4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a lógica, medir, observar o plano e só depois otimizar.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4096512"/>
            <a:ext cx="2880360" cy="566928"/>
          </a:xfrm>
          <a:prstGeom prst="roundRect">
            <a:avLst>
              <a:gd name="adj" fmla="val 12903"/>
            </a:avLst>
          </a:prstGeom>
          <a:solidFill>
            <a:srgbClr val="102A43">
              <a:alpha val="0"/>
            </a:srgbClr>
          </a:solidFill>
          <a:ln w="17780">
            <a:solidFill>
              <a:srgbClr val="5C789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42062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Autor: Pedro Ramos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41080" y="1143000"/>
            <a:ext cx="2834640" cy="4251960"/>
          </a:xfrm>
          <a:prstGeom prst="roundRect">
            <a:avLst>
              <a:gd name="adj" fmla="val 3226"/>
            </a:avLst>
          </a:prstGeom>
          <a:solidFill>
            <a:srgbClr val="173852"/>
          </a:solidFill>
          <a:ln w="12700">
            <a:solidFill>
              <a:srgbClr val="3556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34272" y="15727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compreender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034272" y="213969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validar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034272" y="27066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medir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034272" y="32735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EXPLAIN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034272" y="38404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 indexar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034272" y="44074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B1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 voltar a medir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74980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325880" y="6583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Retomar o ambiente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25880" y="11887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base imdb já está importada; a tarefa começa por tornar o ambiente verificável.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74520"/>
            <a:ext cx="3383280" cy="109728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10312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Iniciar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2532888"/>
            <a:ext cx="2980944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um terminal na pasta do Docker e iniciar os contentores.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7408" y="187452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1874520"/>
            <a:ext cx="3383280" cy="109728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210312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Entrar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08576" y="2532888"/>
            <a:ext cx="2980944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o terminal do contentor MySQL e executar o cliente.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83296" y="187452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83296" y="1874520"/>
            <a:ext cx="3383280" cy="109728"/>
          </a:xfrm>
          <a:prstGeom prst="rect">
            <a:avLst/>
          </a:prstGeom>
          <a:solidFill>
            <a:srgbClr val="13795B"/>
          </a:solidFill>
          <a:ln w="12700">
            <a:solidFill>
              <a:srgbClr val="1379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84464" y="210312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Confirmar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84464" y="2532888"/>
            <a:ext cx="2980944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Ativar imdb, listar e descrever as tabelas necessárias.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130552" y="5285232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0D2235"/>
          </a:solidFill>
          <a:ln w="12700">
            <a:solidFill>
              <a:srgbClr val="0D22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31720" y="5449824"/>
            <a:ext cx="75072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EF8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docker compose -f MysqlDocker.yml up -d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EF8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mysql -u root -p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EF8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USE imdb;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EF8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SHOW TABLES;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74980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325880" y="6583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caminho pessoa → participação → obra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25880" y="11887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tabela intermédia titleprincipals contém as duas ligações.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1938528"/>
            <a:ext cx="31546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25400">
            <a:solidFill>
              <a:srgbClr val="087F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938528"/>
            <a:ext cx="3154680" cy="566928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namebasics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2715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PK  nconst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3108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primaryName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34840" y="1938528"/>
            <a:ext cx="31546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25400">
            <a:solidFill>
              <a:srgbClr val="087F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938528"/>
            <a:ext cx="3154680" cy="566928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07568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titleprincipals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45152" y="2715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FK  nconst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45152" y="3108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FK  tconst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45152" y="3502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characters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83880" y="1938528"/>
            <a:ext cx="31546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25400">
            <a:solidFill>
              <a:srgbClr val="087F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938528"/>
            <a:ext cx="3154680" cy="566928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207568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titlebasics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94192" y="2715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PK  tconst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94192" y="3108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primaryTitle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94192" y="3502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titleType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94192" y="38953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startYear · endYear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94192" y="42885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isAdult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840480" y="3383280"/>
            <a:ext cx="502920" cy="0"/>
          </a:xfrm>
          <a:prstGeom prst="line">
            <a:avLst/>
          </a:prstGeom>
          <a:noFill/>
          <a:ln w="25400">
            <a:solidFill>
              <a:srgbClr val="102A43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840480" y="30632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nconst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89520" y="3383280"/>
            <a:ext cx="502920" cy="0"/>
          </a:xfrm>
          <a:prstGeom prst="line">
            <a:avLst/>
          </a:prstGeom>
          <a:noFill/>
          <a:ln w="25400">
            <a:solidFill>
              <a:srgbClr val="102A43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7589520" y="30632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tconst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" y="5577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Quantas vezes aparece?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366760" y="5577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que títulos aparece?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74980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325880" y="6583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Exercício 1 · traduzir o enunciado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25880" y="11887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cada titleType, conte as obras para adultos iniciadas nos anos 80.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28800"/>
            <a:ext cx="3291840" cy="109728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057400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78408" y="2487168"/>
            <a:ext cx="28895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linha por titleType.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53128" y="182880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53128" y="1828800"/>
            <a:ext cx="3291840" cy="109728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54296" y="2057400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54296" y="2487168"/>
            <a:ext cx="28895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COUNT(*) em cada grupo.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9016" y="182880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29016" y="1828800"/>
            <a:ext cx="3291840" cy="109728"/>
          </a:xfrm>
          <a:prstGeom prst="rect">
            <a:avLst/>
          </a:prstGeom>
          <a:solidFill>
            <a:srgbClr val="13795B"/>
          </a:solidFill>
          <a:ln w="12700">
            <a:solidFill>
              <a:srgbClr val="1379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0184" y="2057400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30184" y="2487168"/>
            <a:ext cx="28895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isAdult = 1 e startYear na década.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4434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73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Pergunta malandra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240" y="482803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“Iniciada nos anos 80” deve testar startYear duas vezes ou combinar startYear e endYear?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77240" y="56509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 mental: startYear = 1985 e endYear = NULL.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74980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325880" y="6583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Correção antes da velocidade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25880" y="11887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condição aparentemente plausível pode excluir linhas válidas.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698480" cy="1508760"/>
        </p:xfrm>
        <a:graphic>
          <a:graphicData uri="http://schemas.openxmlformats.org/drawingml/2006/table">
            <a:tbl>
              <a:tblPr/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linha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startYear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endYear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startYear ≥ 1980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endYear &lt; 1990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1985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NULL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verdadeiro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desconhecido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1982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1988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verdadeiro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verdadeiro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3886200"/>
            <a:ext cx="5074920" cy="1143000"/>
          </a:xfrm>
          <a:prstGeom prst="roundRect">
            <a:avLst>
              <a:gd name="adj" fmla="val 4800"/>
            </a:avLst>
          </a:prstGeom>
          <a:solidFill>
            <a:srgbClr val="FFE9EC"/>
          </a:solidFill>
          <a:ln w="12700">
            <a:solidFill>
              <a:srgbClr val="B7354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4128" y="4096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73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endYear &lt; 1990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971800" y="4096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linha A desaparece.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327648" y="3886200"/>
            <a:ext cx="5074920" cy="1143000"/>
          </a:xfrm>
          <a:prstGeom prst="roundRect">
            <a:avLst>
              <a:gd name="adj" fmla="val 4800"/>
            </a:avLst>
          </a:prstGeom>
          <a:solidFill>
            <a:srgbClr val="E5F5EF"/>
          </a:solidFill>
          <a:ln w="12700">
            <a:solidFill>
              <a:srgbClr val="1379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65392" y="40965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379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startYear &lt; 1990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732520" y="4096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linha A é conservada.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645920" y="553212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Só depois de escolher a condição correta faz sentido medir e otimizar.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74980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325880" y="6583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Exercício 1 · desenhar o ensaio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25880" y="11887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aluno deve produzir evidência, não apenas um comando.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130552"/>
            <a:ext cx="530352" cy="530352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24942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10896" y="278892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Executar sem índice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16152" y="2395728"/>
            <a:ext cx="1298448" cy="0"/>
          </a:xfrm>
          <a:prstGeom prst="line">
            <a:avLst/>
          </a:prstGeom>
          <a:noFill/>
          <a:ln w="38100">
            <a:solidFill>
              <a:srgbClr val="D5E0E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60320" y="2130552"/>
            <a:ext cx="530352" cy="530352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224942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12848" y="278892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Registar o tempo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118104" y="2395728"/>
            <a:ext cx="1298448" cy="0"/>
          </a:xfrm>
          <a:prstGeom prst="line">
            <a:avLst/>
          </a:prstGeom>
          <a:noFill/>
          <a:ln w="38100">
            <a:solidFill>
              <a:srgbClr val="D5E0E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62272" y="2130552"/>
            <a:ext cx="530352" cy="530352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62272" y="224942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14800" y="278892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EXPLAIN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0056" y="2395728"/>
            <a:ext cx="1298448" cy="0"/>
          </a:xfrm>
          <a:prstGeom prst="line">
            <a:avLst/>
          </a:prstGeom>
          <a:noFill/>
          <a:ln w="38100">
            <a:solidFill>
              <a:srgbClr val="D5E0E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64224" y="2130552"/>
            <a:ext cx="530352" cy="530352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64224" y="224942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16752" y="278892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Criar um índice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922008" y="2395728"/>
            <a:ext cx="1298448" cy="0"/>
          </a:xfrm>
          <a:prstGeom prst="line">
            <a:avLst/>
          </a:prstGeom>
          <a:noFill/>
          <a:ln w="38100">
            <a:solidFill>
              <a:srgbClr val="D5E0E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66176" y="2130552"/>
            <a:ext cx="530352" cy="530352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66176" y="224942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918704" y="278892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Repetir exatamente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823960" y="2395728"/>
            <a:ext cx="1298448" cy="0"/>
          </a:xfrm>
          <a:prstGeom prst="line">
            <a:avLst/>
          </a:prstGeom>
          <a:noFill/>
          <a:ln w="38100">
            <a:solidFill>
              <a:srgbClr val="D5E0E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168128" y="2130552"/>
            <a:ext cx="530352" cy="530352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68128" y="224942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820656" y="278892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 e justificar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51560" y="4160520"/>
            <a:ext cx="4800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4160520"/>
            <a:ext cx="4800600" cy="109728"/>
          </a:xfrm>
          <a:prstGeom prst="rect">
            <a:avLst/>
          </a:prstGeom>
          <a:solidFill>
            <a:srgbClr val="B73546"/>
          </a:solidFill>
          <a:ln w="12700">
            <a:solidFill>
              <a:srgbClr val="B735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52728" y="4389120"/>
            <a:ext cx="4398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Medição da resolução original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52728" y="4818888"/>
            <a:ext cx="43982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4,08 s → 2,49 s (aprox. 39% de melhoria).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09360" y="4160520"/>
            <a:ext cx="4800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4160520"/>
            <a:ext cx="4800600" cy="109728"/>
          </a:xfrm>
          <a:prstGeom prst="rect">
            <a:avLst/>
          </a:prstGeom>
          <a:solidFill>
            <a:srgbClr val="13795B"/>
          </a:solidFill>
          <a:ln w="12700">
            <a:solidFill>
              <a:srgbClr val="1379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0528" y="4389120"/>
            <a:ext cx="4398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Questão para experimentar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510528" y="4818888"/>
            <a:ext cx="43982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índice deve acompanhar a consulta corrigida, sem endYear.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74980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325880" y="6583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Exercício 2 · Woody Allen como ele próprio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25880" y="11887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exige uma procura por nome e um cruzamento por nconst.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3429000" cy="109728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01168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Encontrar a pessoa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2441448"/>
            <a:ext cx="302666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namebasics.primaryName = 'Woody Allen'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70832" y="178308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1783080"/>
            <a:ext cx="3429000" cy="109728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01168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Chegar às participações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2441448"/>
            <a:ext cx="302666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titleprincipals.nconst = namebasics.nconst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10144" y="178308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10144" y="1783080"/>
            <a:ext cx="3429000" cy="109728"/>
          </a:xfrm>
          <a:prstGeom prst="rect">
            <a:avLst/>
          </a:prstGeom>
          <a:solidFill>
            <a:srgbClr val="13795B"/>
          </a:solidFill>
          <a:ln w="12700">
            <a:solidFill>
              <a:srgbClr val="1379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1312" y="201168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Filtrar o papel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11312" y="2441448"/>
            <a:ext cx="302666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characters = ['Himself']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47091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coluna da tabela grande deve estar indexada?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2240280" y="5349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SHOW INDEX antes de criar qualquer índice.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74980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325880" y="6583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índice altera a escala do problema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25880" y="11887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mesma resposta, no mesmo ambiente, com e sem índice em titleprincipals.nconst.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600200"/>
          <a:ext cx="667512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955280" y="182880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55280" y="1828800"/>
            <a:ext cx="3383280" cy="109728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56448" y="205740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156448" y="2487168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233 participações.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955280" y="370332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0" y="3703320"/>
            <a:ext cx="3383280" cy="109728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56448" y="393192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Diferença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156448" y="4361688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Cerca de 68× mais rápido.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74980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325880" y="6583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Exercício 3 · acrescentar os títulos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25880" y="11887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contagem transforma-se numa lista e passa a atravessar a terceira tabela.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31546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5400">
            <a:solidFill>
              <a:srgbClr val="087F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9456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namebasics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6974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Woody Allen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77640" y="2715768"/>
            <a:ext cx="530352" cy="0"/>
          </a:xfrm>
          <a:prstGeom prst="line">
            <a:avLst/>
          </a:prstGeom>
          <a:noFill/>
          <a:ln w="38100">
            <a:solidFill>
              <a:srgbClr val="F2B13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81144" y="1965960"/>
            <a:ext cx="31546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5400">
            <a:solidFill>
              <a:srgbClr val="087F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64024" y="219456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titleprincipals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64024" y="26974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['Himself']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81544" y="2715768"/>
            <a:ext cx="530352" cy="0"/>
          </a:xfrm>
          <a:prstGeom prst="line">
            <a:avLst/>
          </a:prstGeom>
          <a:noFill/>
          <a:ln w="38100">
            <a:solidFill>
              <a:srgbClr val="F2B13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385048" y="1965960"/>
            <a:ext cx="31546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5400">
            <a:solidFill>
              <a:srgbClr val="087F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67928" y="219456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titlebasics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67928" y="26974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movie · primaryTitle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2519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73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Desafio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77240" y="46817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igualdade liga a participação à obra? Porque a PK de titlebasics já ajuda esta procura?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77240" y="55961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de referência: 21 linhas · 0,62 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74980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325880" y="6583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EXPLAIN: procurar sinais, não decorar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25880" y="11887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plano permite justificar o tempo observado.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178308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783080"/>
            <a:ext cx="3383280" cy="109728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201168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0976" y="2441448"/>
            <a:ext cx="2980944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tabela está a ser consultada em cada passo?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7408" y="178308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1783080"/>
            <a:ext cx="3383280" cy="109728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201168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08576" y="2441448"/>
            <a:ext cx="2980944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índice foi realmente escolhido?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65008" y="178308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65008" y="1783080"/>
            <a:ext cx="3383280" cy="109728"/>
          </a:xfrm>
          <a:prstGeom prst="rect">
            <a:avLst/>
          </a:prstGeom>
          <a:solidFill>
            <a:srgbClr val="13795B"/>
          </a:solidFill>
          <a:ln w="12700">
            <a:solidFill>
              <a:srgbClr val="1379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66176" y="201168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66176" y="2441448"/>
            <a:ext cx="2980944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Quantas linhas estima o MySQL examinar?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555955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índice criado mas ausente em key não está a ajudar aquele passo do plano.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74980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325880" y="6583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Restaurar a base de dados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25880" y="11887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ensaio termina quando as alterações experimentais são removidas.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60120" y="1691640"/>
            <a:ext cx="6720840" cy="3246120"/>
          </a:xfrm>
          <a:prstGeom prst="roundRect">
            <a:avLst>
              <a:gd name="adj" fmla="val 1690"/>
            </a:avLst>
          </a:prstGeom>
          <a:solidFill>
            <a:srgbClr val="0D2235"/>
          </a:solidFill>
          <a:ln w="12700">
            <a:solidFill>
              <a:srgbClr val="0D22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1288" y="1856232"/>
            <a:ext cx="6318504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EF8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SHOW INDEX FROM titlebasics;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EF8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SHOW INDEX FROM titleprincipals;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EF8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-- Remover apenas os índices criados no exercício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EF8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DROP INDEX nome_do_indice ON nome_da_tabela;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092440" y="169164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92440" y="1691640"/>
            <a:ext cx="3246120" cy="109728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93608" y="1920240"/>
            <a:ext cx="2843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93608" y="2350008"/>
            <a:ext cx="28437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 os índices existentes.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92440" y="352044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92440" y="3520440"/>
            <a:ext cx="3246120" cy="109728"/>
          </a:xfrm>
          <a:prstGeom prst="rect">
            <a:avLst/>
          </a:prstGeom>
          <a:solidFill>
            <a:srgbClr val="13795B"/>
          </a:solidFill>
          <a:ln w="12700">
            <a:solidFill>
              <a:srgbClr val="1379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93608" y="3749040"/>
            <a:ext cx="2843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Depois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93608" y="4178808"/>
            <a:ext cx="28437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Confirme que o estado inicial foi reposto.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553212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735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Nunca elimine um índice apenas porque não foi criado por si nesta sessão.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74980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325880" y="6583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método que deve ficar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25880" y="11887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aprendizagem não é memorizar um CREATE INDEX.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920240"/>
            <a:ext cx="566928" cy="56692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06654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27632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Compreender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627632" y="230428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Traduzir literalmente o enunciado.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26280" y="164592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0872" y="1920240"/>
            <a:ext cx="566928" cy="56692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206654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22392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422392" y="230428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Testar NULL e casos-limite.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21040" y="164592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85632" y="1920240"/>
            <a:ext cx="566928" cy="566928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85632" y="206654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17152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217152" y="230428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 o tempo inicial.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370332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" y="3977640"/>
            <a:ext cx="566928" cy="566928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12394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27632" y="3931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Observar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627632" y="436168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Ler EXPLAIN e SHOW INDEX.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26280" y="370332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90872" y="3977640"/>
            <a:ext cx="566928" cy="566928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0872" y="412394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22392" y="3931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Experimentar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5422392" y="436168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Criar um índice coerente.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321040" y="370332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85632" y="3977640"/>
            <a:ext cx="566928" cy="566928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85632" y="412394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217152" y="3931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9217152" y="436168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F6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Repetir e restaurar.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F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ISCTE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IMDb: anos 80 e Woody Allen</dc:title>
  <dc:subject>Exercício guiado de SQL e índices no IMDb</dc:subject>
  <dc:creator>Pedro Ramos</dc:creator>
  <cp:lastModifiedBy>Pedro Ramos</cp:lastModifiedBy>
  <cp:revision>1</cp:revision>
  <dcterms:created xsi:type="dcterms:W3CDTF">2026-10-02T15:24:18Z</dcterms:created>
  <dcterms:modified xsi:type="dcterms:W3CDTF">2026-10-02T15:24:18Z</dcterms:modified>
</cp:coreProperties>
</file>