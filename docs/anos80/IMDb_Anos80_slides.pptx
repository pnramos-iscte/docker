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eb378f39f5446f" /><Relationship Type="http://schemas.openxmlformats.org/officeDocument/2006/relationships/extended-properties" Target="/docProps/app.xml" Id="Rb50934c367f44235" /><Relationship Type="http://schemas.openxmlformats.org/officeDocument/2006/relationships/officeDocument" Target="/ppt/presentation.xml" Id="R91d298976ed244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3073f5d96242ad"/>
  </p:sldMasterIdLst>
  <p:notesMasterIdLst>
    <p:notesMasterId xmlns:r="http://schemas.openxmlformats.org/officeDocument/2006/relationships" r:id="R3d9fe0a1216f4970"/>
  </p:notesMasterIdLst>
  <p:sldIdLst>
    <p:sldId xmlns:r="http://schemas.openxmlformats.org/officeDocument/2006/relationships" id="256" r:id="R559d88389abe471d"/>
    <p:sldId xmlns:r="http://schemas.openxmlformats.org/officeDocument/2006/relationships" id="257" r:id="Rf9a1050c082b449b"/>
    <p:sldId xmlns:r="http://schemas.openxmlformats.org/officeDocument/2006/relationships" id="258" r:id="Ra9a22f22394d4f3e"/>
    <p:sldId xmlns:r="http://schemas.openxmlformats.org/officeDocument/2006/relationships" id="259" r:id="R61056dddb1104d61"/>
    <p:sldId xmlns:r="http://schemas.openxmlformats.org/officeDocument/2006/relationships" id="260" r:id="Rdbf27fd23c68419b"/>
    <p:sldId xmlns:r="http://schemas.openxmlformats.org/officeDocument/2006/relationships" id="261" r:id="Rcec4b3364e7d4a7b"/>
    <p:sldId xmlns:r="http://schemas.openxmlformats.org/officeDocument/2006/relationships" id="262" r:id="R5bb38d05291d4354"/>
    <p:sldId xmlns:r="http://schemas.openxmlformats.org/officeDocument/2006/relationships" id="263" r:id="Ra2e375015838468e"/>
    <p:sldId xmlns:r="http://schemas.openxmlformats.org/officeDocument/2006/relationships" id="264" r:id="R331553bde74846ea"/>
    <p:sldId xmlns:r="http://schemas.openxmlformats.org/officeDocument/2006/relationships" id="265" r:id="R368fd0602a7c4645"/>
    <p:sldId xmlns:r="http://schemas.openxmlformats.org/officeDocument/2006/relationships" id="266" r:id="R1c3f7d32a2104d9c"/>
    <p:sldId xmlns:r="http://schemas.openxmlformats.org/officeDocument/2006/relationships" id="267" r:id="R031e7957e57e4975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b9b638c96d4e1b" /><Relationship Type="http://schemas.openxmlformats.org/officeDocument/2006/relationships/slideMaster" Target="/ppt/slideMasters/slideMaster1.xml" Id="R223073f5d96242ad" /><Relationship Type="http://schemas.openxmlformats.org/officeDocument/2006/relationships/notesMaster" Target="/ppt/notesMasters/notesMaster1.xml" Id="R3d9fe0a1216f4970" /><Relationship Type="http://schemas.openxmlformats.org/officeDocument/2006/relationships/presProps" Target="/ppt/presProps.xml" Id="R3bf7fb7833b1455c" /><Relationship Type="http://schemas.openxmlformats.org/officeDocument/2006/relationships/viewProps" Target="/ppt/viewProps.xml" Id="Rb5fa58b5fc3d4d72" /><Relationship Type="http://schemas.openxmlformats.org/officeDocument/2006/relationships/tableStyles" Target="/ppt/tableStyles.xml" Id="R55b1c0ed475043d8" /><Relationship Type="http://schemas.openxmlformats.org/officeDocument/2006/relationships/slide" Target="/ppt/slides/slide1.xml" Id="R559d88389abe471d" /><Relationship Type="http://schemas.openxmlformats.org/officeDocument/2006/relationships/slide" Target="/ppt/slides/slide2.xml" Id="Rf9a1050c082b449b" /><Relationship Type="http://schemas.openxmlformats.org/officeDocument/2006/relationships/slide" Target="/ppt/slides/slide3.xml" Id="Ra9a22f22394d4f3e" /><Relationship Type="http://schemas.openxmlformats.org/officeDocument/2006/relationships/slide" Target="/ppt/slides/slide4.xml" Id="R61056dddb1104d61" /><Relationship Type="http://schemas.openxmlformats.org/officeDocument/2006/relationships/slide" Target="/ppt/slides/slide5.xml" Id="Rdbf27fd23c68419b" /><Relationship Type="http://schemas.openxmlformats.org/officeDocument/2006/relationships/slide" Target="/ppt/slides/slide6.xml" Id="Rcec4b3364e7d4a7b" /><Relationship Type="http://schemas.openxmlformats.org/officeDocument/2006/relationships/slide" Target="/ppt/slides/slide7.xml" Id="R5bb38d05291d4354" /><Relationship Type="http://schemas.openxmlformats.org/officeDocument/2006/relationships/slide" Target="/ppt/slides/slide8.xml" Id="Ra2e375015838468e" /><Relationship Type="http://schemas.openxmlformats.org/officeDocument/2006/relationships/slide" Target="/ppt/slides/slide9.xml" Id="R331553bde74846ea" /><Relationship Type="http://schemas.openxmlformats.org/officeDocument/2006/relationships/slide" Target="/ppt/slides/slide10.xml" Id="R368fd0602a7c4645" /><Relationship Type="http://schemas.openxmlformats.org/officeDocument/2006/relationships/slide" Target="/ppt/slides/slide11.xml" Id="R1c3f7d32a2104d9c" /><Relationship Type="http://schemas.openxmlformats.org/officeDocument/2006/relationships/slide" Target="/ppt/slides/slide12.xml" Id="R031e7957e57e49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7521b659194e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6c3882c6844598" /><Relationship Type="http://schemas.openxmlformats.org/officeDocument/2006/relationships/notesMaster" Target="/ppt/notesMasters/notesMaster1.xml" Id="Rcec207d15c7041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6fb737d74b4716" /><Relationship Type="http://schemas.openxmlformats.org/officeDocument/2006/relationships/notesMaster" Target="/ppt/notesMasters/notesMaster1.xml" Id="Rab1bcafc7b7443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d6ff35c77844e6" /><Relationship Type="http://schemas.openxmlformats.org/officeDocument/2006/relationships/notesMaster" Target="/ppt/notesMasters/notesMaster1.xml" Id="R9c5e619b0eb149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ac671fa2ec4b53" /><Relationship Type="http://schemas.openxmlformats.org/officeDocument/2006/relationships/notesMaster" Target="/ppt/notesMasters/notesMaster1.xml" Id="Ra7aef17cbffa42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eb909a41114f91" /><Relationship Type="http://schemas.openxmlformats.org/officeDocument/2006/relationships/notesMaster" Target="/ppt/notesMasters/notesMaster1.xml" Id="R69291ae405424f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d4303cab78466e" /><Relationship Type="http://schemas.openxmlformats.org/officeDocument/2006/relationships/notesMaster" Target="/ppt/notesMasters/notesMaster1.xml" Id="Raf6c6dbc81424f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b856e4cf3f47a4" /><Relationship Type="http://schemas.openxmlformats.org/officeDocument/2006/relationships/notesMaster" Target="/ppt/notesMasters/notesMaster1.xml" Id="R1d3ddbd180444b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bc5709e95a4c98" /><Relationship Type="http://schemas.openxmlformats.org/officeDocument/2006/relationships/notesMaster" Target="/ppt/notesMasters/notesMaster1.xml" Id="R90a8b1dd060644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47288651514d49" /><Relationship Type="http://schemas.openxmlformats.org/officeDocument/2006/relationships/notesMaster" Target="/ppt/notesMasters/notesMaster1.xml" Id="R2641722e073e41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ba66ff8043477c" /><Relationship Type="http://schemas.openxmlformats.org/officeDocument/2006/relationships/notesMaster" Target="/ppt/notesMasters/notesMaster1.xml" Id="R071a408638bd490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e253ee1d774f2b" /><Relationship Type="http://schemas.openxmlformats.org/officeDocument/2006/relationships/notesMaster" Target="/ppt/notesMasters/notesMaster1.xml" Id="R0f5f361d92bc488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8f237af7c3a4d15" /><Relationship Type="http://schemas.openxmlformats.org/officeDocument/2006/relationships/notesMaster" Target="/ppt/notesMasters/notesMaster1.xml" Id="R600c8615dc4f4d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23033933e64a1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41f91095fd4c6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4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6B72C24-8BE5-4194-AE96-45CFD1C8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2700">
            <a:solidFill>
              <a:srgbClr val="102A43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866624-4C05-41FE-9D27-B541D075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50">
                <a:solidFill>
                  <a:srgbClr val="FFFFFF"/>
                </a:solidFill>
                <a:latin typeface="Aptos"/>
                <a:ea typeface="Aptos"/>
                <a:cs typeface="Aptos"/>
              </a:rPr>
              <a:t>SQL · IMDB</a:t>
            </a:r>
            <a:endParaRPr sz="1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486B1C-96F5-42CB-8597-93686BAF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128016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C6D8E2"/>
                </a:solidFill>
              </a:rPr>
              <a:t>Pedro Ramos</a:t>
            </a:r>
            <a:endParaRPr sz="1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BC7E4D-E70D-4426-BF2D-E272A3528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56248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110">
                <a:solidFill>
                  <a:srgbClr val="087F8C"/>
                </a:solidFill>
              </a:rPr>
              <a:t>BASES DE DADOS · EXERCÍCIO GUIADO</a:t>
            </a:r>
            <a:endParaRPr sz="9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7FFE07-0B8B-49AA-BE82-25FE993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0" y="6528816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D7E28C2-D9C2-4E94-BE44-99ADB83A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f445cad93341df" /><Relationship Type="http://schemas.openxmlformats.org/officeDocument/2006/relationships/slideLayout" Target="/ppt/slideLayouts/slideLayout1.xml" Id="Rdbbf6729beae46b1" /><Relationship Type="http://schemas.openxmlformats.org/officeDocument/2006/relationships/slideLayout" Target="/ppt/slideLayouts/slideLayout2.xml" Id="R2deff3fe92ca473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FD7D63-183F-4D05-B360-7CB4DBAA72A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bf6729beae46b1"/>
    <p:sldLayoutId xmlns:r="http://schemas.openxmlformats.org/officeDocument/2006/relationships" id="2147483650" r:id="R2deff3fe92ca4730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0e18526544308" /><Relationship Type="http://schemas.openxmlformats.org/officeDocument/2006/relationships/notesSlide" Target="/ppt/notesSlides/notesSlide1.xml" Id="R45c15cf85cb042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2ae0de42cd4c6e" /><Relationship Type="http://schemas.openxmlformats.org/officeDocument/2006/relationships/notesSlide" Target="/ppt/notesSlides/notesSlide2.xml" Id="R760e47549e5745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4bbb6110f040b7" /><Relationship Type="http://schemas.openxmlformats.org/officeDocument/2006/relationships/notesSlide" Target="/ppt/notesSlides/notesSlide3.xml" Id="Re0c570cc6f664b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538647b0fe4d78" /><Relationship Type="http://schemas.openxmlformats.org/officeDocument/2006/relationships/notesSlide" Target="/ppt/notesSlides/notesSlide4.xml" Id="R95045a17a46640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a4a6436a9749f0" /><Relationship Type="http://schemas.openxmlformats.org/officeDocument/2006/relationships/notesSlide" Target="/ppt/notesSlides/notesSlide5.xml" Id="R66f05c8a761e44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8cfcac8994481c" /><Relationship Type="http://schemas.openxmlformats.org/officeDocument/2006/relationships/notesSlide" Target="/ppt/notesSlides/notesSlide6.xml" Id="R8ecd8cdcfd874b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c5607abad849f0" /><Relationship Type="http://schemas.openxmlformats.org/officeDocument/2006/relationships/notesSlide" Target="/ppt/notesSlides/notesSlide7.xml" Id="R2f9672b733134a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4a13a411b24a3e" /><Relationship Type="http://schemas.openxmlformats.org/officeDocument/2006/relationships/chart" Target="/ppt/slides/charts/chart1.xml" Id="R2a2e285d9ce94b1d" /><Relationship Type="http://schemas.openxmlformats.org/officeDocument/2006/relationships/notesSlide" Target="/ppt/notesSlides/notesSlide8.xml" Id="R62c73026ddc440b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5587d8ccb84994" /><Relationship Type="http://schemas.openxmlformats.org/officeDocument/2006/relationships/notesSlide" Target="/ppt/notesSlides/notesSlide9.xml" Id="Rda58e288a4f24c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49b2bd19704e2b" /><Relationship Type="http://schemas.openxmlformats.org/officeDocument/2006/relationships/notesSlide" Target="/ppt/notesSlides/notesSlide10.xml" Id="R52864bac279241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8814caa54d4232" /><Relationship Type="http://schemas.openxmlformats.org/officeDocument/2006/relationships/notesSlide" Target="/ppt/notesSlides/notesSlide11.xml" Id="Rd20d14797c4d43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43c98fe4e8427a" /><Relationship Type="http://schemas.openxmlformats.org/officeDocument/2006/relationships/notesSlide" Target="/ppt/notesSlides/notesSlide12.xml" Id="R640fc4e0abe14aa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Tempo (s)</c:v>
          </c:tx>
          <c:spPr>
            <a:solidFill xmlns:a="http://schemas.openxmlformats.org/drawingml/2006/main">
              <a:srgbClr val="B73546"/>
            </a:solidFill>
          </c:spPr>
          <c:cat>
            <c:strRef>
              <c:f>'Chart Data'!$A$2:$A$3</c:f>
              <c:strCache>
                <c:ptCount val="2"/>
                <c:pt idx="0">
                  <c:v>Sem índice</c:v>
                </c:pt>
                <c:pt idx="1">
                  <c:v>Com índice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33.11</c:v>
                </c:pt>
                <c:pt idx="1">
                  <c:v>0.49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B6F4AD-8B7A-4C9E-B6AD-D8C89E31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960120"/>
            <a:ext cx="6583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 spc="200">
                <a:solidFill>
                  <a:srgbClr val="45BCC4"/>
                </a:solidFill>
                <a:latin typeface="Aptos"/>
                <a:ea typeface="Aptos"/>
                <a:cs typeface="Aptos"/>
              </a:rPr>
              <a:t>BASES DE DADOS · EXERCÍCIO GUIADO</a:t>
            </a:r>
            <a:endParaRPr sz="1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F5F1F6-F0A1-49A5-B99E-B402232F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36192"/>
            <a:ext cx="7955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Anos 80, Woody Allen</a:t>
            </a:r>
            <a:endParaRPr sz="4200"/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 índices</a:t>
            </a:r>
            <a:endParaRPr sz="4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981ECA6-AFF4-45D3-BF9A-03E057AE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2112"/>
            <a:ext cx="70408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>
                <a:solidFill>
                  <a:srgbClr val="D6E4EB"/>
                </a:solidFill>
                <a:latin typeface="Aptos"/>
                <a:ea typeface="Aptos"/>
                <a:cs typeface="Aptos"/>
              </a:rPr>
              <a:t>Validar a lógica, medir, observar o plano e só depois otimizar.</a:t>
            </a:r>
            <a:endParaRPr sz="20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06C5352-71B4-4A6F-9E01-A823FF31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6512"/>
            <a:ext cx="2880360" cy="566928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02A43">
              <a:alpha val="0"/>
            </a:srgbClr>
          </a:solidFill>
          <a:ln xmlns:a="http://schemas.openxmlformats.org/drawingml/2006/main" w="17780">
            <a:solidFill>
              <a:srgbClr val="5C7891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E733F7D-E563-46AA-AA24-99648900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206240"/>
            <a:ext cx="2331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Autor: Pedro Ramos</a:t>
            </a:r>
            <a:endParaRPr sz="18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CDBA7F9-8D7B-4FC0-8B16-D60774F0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143000"/>
            <a:ext cx="2834640" cy="425196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173852"/>
          </a:solidFill>
          <a:ln xmlns:a="http://schemas.openxmlformats.org/drawingml/2006/main" w="12700">
            <a:solidFill>
              <a:srgbClr val="35566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858B1AB-FFE7-49B8-999D-DAA3FFEC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572768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FFFFF"/>
                </a:solidFill>
                <a:latin typeface="Aptos"/>
                <a:ea typeface="Aptos"/>
                <a:cs typeface="Aptos"/>
              </a:rPr>
              <a:t>1  compreender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F43D795-93FC-4504-80A8-93BCF260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139696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FFFFF"/>
                </a:solidFill>
                <a:latin typeface="Aptos"/>
                <a:ea typeface="Aptos"/>
                <a:cs typeface="Aptos"/>
              </a:rPr>
              <a:t>2  validar</a:t>
            </a:r>
            <a:endParaRPr sz="17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11E1820-3449-41B5-B1E5-2A04FFA3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06624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FFFFF"/>
                </a:solidFill>
                <a:latin typeface="Aptos"/>
                <a:ea typeface="Aptos"/>
                <a:cs typeface="Aptos"/>
              </a:rPr>
              <a:t>3  medir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1836160-18E6-4304-9F99-C0009AF8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273552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FFFFF"/>
                </a:solidFill>
                <a:latin typeface="Aptos"/>
                <a:ea typeface="Aptos"/>
                <a:cs typeface="Aptos"/>
              </a:rPr>
              <a:t>4  EXPLAIN</a:t>
            </a:r>
            <a:endParaRPr sz="1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AFDB72E-CADE-428C-9FF3-01BC9681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840480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FFFFF"/>
                </a:solidFill>
                <a:latin typeface="Aptos"/>
                <a:ea typeface="Aptos"/>
                <a:cs typeface="Aptos"/>
              </a:rPr>
              <a:t>5  indexar</a:t>
            </a:r>
            <a:endParaRPr sz="17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553D7AA-C819-47C8-892D-123A50C6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4407408"/>
            <a:ext cx="2057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F2B134"/>
                </a:solidFill>
                <a:latin typeface="Aptos"/>
                <a:ea typeface="Aptos"/>
                <a:cs typeface="Aptos"/>
              </a:rPr>
              <a:t>6  voltar a medir</a:t>
            </a:r>
            <a:endParaRPr sz="1700"/>
          </a:p>
        </p:txBody>
      </p:sp>
    </p:spTree>
    <p:extLst>
      <p:ext uri="{BB962C8B-B14F-4D97-AF65-F5344CB8AC3E}">
        <p14:creationId xmlns:p14="http://schemas.microsoft.com/office/powerpoint/2010/main" val="80717297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506544-EFBE-4EB9-A34D-CD025BC6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D07AE4-D225-4982-9761-C08FF87C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Retomar o ambiente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3D64BA6-DA25-4B87-95D8-F30BDB62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base imdb já está importada; a tarefa começa por tornar o ambiente verificável.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F59201D-3626-43DD-BD22-80DED48D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74520"/>
            <a:ext cx="3383280" cy="310896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301DD5-6DFD-471D-B49C-F2F1AEEB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7452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BA5B411-07DD-4601-9271-4ADE2637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0312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1 · Iniciar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909128B-4CF0-41E6-98E6-B1185607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32888"/>
            <a:ext cx="2980944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Abrir um terminal na pasta do Docker e iniciar os contentores.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4A0EEE6-A28E-402A-A720-436EE7E59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1874520"/>
            <a:ext cx="3383280" cy="310896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36645B3-8473-41F6-9794-AC6DE5D0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187452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18740D-0FD9-4F24-A2DA-25950AD7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10312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2 · Entrar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CF176DA-9061-43B4-B9EF-3DA2C4FF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532888"/>
            <a:ext cx="2980944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Abrir o terminal do contentor MySQL e executar o cliente.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B82A969-0C2B-4622-83C9-73A6EF36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874520"/>
            <a:ext cx="3383280" cy="310896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F3BD5AC-F5D7-4503-AAB8-99A7F24D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87452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AAEEA54-ED46-4A84-A0FD-5F204AFA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10312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3 · Confirmar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9FEB702-04BA-44D5-874C-95F17B84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532888"/>
            <a:ext cx="2980944" cy="23042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Ativar imdb, listar e descrever as tabelas necessárias.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6300948-598E-44F2-AF0E-445B7D42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5285232"/>
            <a:ext cx="790956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12700">
            <a:solidFill>
              <a:srgbClr val="0D223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CCCDCC1-642A-4583-92BC-352D55D8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449824"/>
            <a:ext cx="7507224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docker compose -f MysqlDocker.yml up -d</a:t>
            </a:r>
            <a:endParaRPr sz="1300"/>
          </a:p>
          <a:p xmlns:a="http://schemas.openxmlformats.org/drawingml/2006/main">
            <a:pPr marL="0" indent="0">
              <a:buNone/>
            </a:pP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mysql -u root -p</a:t>
            </a:r>
            <a:endParaRPr sz="1300"/>
          </a:p>
          <a:p xmlns:a="http://schemas.openxmlformats.org/drawingml/2006/main">
            <a:pPr marL="0" indent="0">
              <a:buNone/>
            </a:pP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USE imdb;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SHOW TABLES;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B6CD392-D3A9-4756-BB98-6D084C42FEC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9850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760F20-A093-4CD2-8415-9DC1F3E3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47B77E-6663-435F-B37B-0A10801B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 caminho pessoa → participação → obra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F918CE-E767-4257-870F-229BCEF1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tabela intermédia titleprincipals contém as duas ligações.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11457C2-1AC5-4DC9-97E1-700FAA73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8528"/>
            <a:ext cx="3154680" cy="3063240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4DA338-11A6-4529-88C4-1AC08403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8528"/>
            <a:ext cx="3154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A244C3-5FCE-4BF8-88BA-5CD6CB99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75688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namebasics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DB44C72-0759-447B-B97D-CDA2E957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15768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PK  nconst</a:t>
            </a:r>
            <a:endParaRPr sz="1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34DBF53-7DCE-4A70-98FE-5E052C2F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08960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primaryName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3A1649B-8EC0-4BBC-A110-01F7E489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38528"/>
            <a:ext cx="3154680" cy="3063240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E0986D4-47C0-4CE3-8070-E52DE054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38528"/>
            <a:ext cx="3154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83C28D-D787-43B4-A80B-F8B4B414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075688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titleprincipals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F2FF756-0078-45A3-B6F3-D1B63E1B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715768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FK  nconst</a:t>
            </a:r>
            <a:endParaRPr sz="1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7D661D-34D4-4876-AA85-4C5253EA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108960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FK  tconst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FA05ACC-7031-4F54-9685-28995D9E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502152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characters</a:t>
            </a:r>
            <a:endParaRPr sz="14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715598-C958-4DF9-B2BC-B748A715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938528"/>
            <a:ext cx="3154680" cy="3063240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AE656BB-077E-4871-A8F6-81EF65C1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938528"/>
            <a:ext cx="315468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A18E2EA-1DEC-43F6-BC62-01E14BCA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075688"/>
            <a:ext cx="2788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titlebasics</a:t>
            </a:r>
            <a:endParaRPr sz="1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26BFA8A-0749-4A5F-B19C-29E80B3E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715768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PK  tconst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5447459-84F7-46C5-8630-57AD1CA2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108960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primaryTitle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BFA784-27DA-453E-A33C-A17248DE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502152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titleType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2B22D0-8955-403C-B4F3-196B2AEE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895344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startYear · endYear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D586D0F-2699-4903-9A14-1FB4B6CB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4288536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17212B"/>
                </a:solidFill>
                <a:latin typeface="Aptos"/>
                <a:ea typeface="Aptos"/>
                <a:cs typeface="Aptos"/>
              </a:rPr>
              <a:t>isAdult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F31C0ED-EDAB-48F8-9DF8-A1014986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383280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02A43"/>
            </a:solidFill>
            <a:prstDash val="solid"/>
            <a:headEnd type="none"/>
            <a:tailEnd type="triangle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BE9994A-C9AC-4BC5-A8B4-71C253BC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063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nconst</a:t>
            </a:r>
            <a:endParaRPr sz="11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07D9B14-EE76-4FED-BD4A-EE6B9DAF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383280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02A43"/>
            </a:solidFill>
            <a:prstDash val="solid"/>
            <a:headEnd type="none"/>
            <a:tailEnd type="triangle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8AE530-6253-4487-B7E7-6D965936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063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tconst</a:t>
            </a:r>
            <a:endParaRPr sz="11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67CDDD4-7215-4D67-B1D8-F5111621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577840"/>
            <a:ext cx="2834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Quantas vezes aparece?</a:t>
            </a:r>
            <a:endParaRPr sz="17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09F2D05-E2AF-4EF1-A6BE-7ECEBA72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5577840"/>
            <a:ext cx="2834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Em que títulos aparece?</a:t>
            </a:r>
            <a:endParaRPr sz="1700"/>
          </a:p>
        </p:txBody>
      </p:sp>
      <p:sp>
        <p:nvSpPr>
          <p:cNvPr id="3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7439BAA-7945-4927-BCE9-E5993527D3E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9627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7B744DC-3A6F-43AF-9259-F6090F2C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2E4023-2D84-4393-AC4C-87CABC6E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Exercício 1 · traduzir o enunciado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4FF5912-2E4F-4DA5-ADA4-C5DAB564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Para cada titleType, conte as obras para adultos que começaram a partir de 1980 e terminaram antes de 1990.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AC48A39-7B28-4FFE-8D4D-7E017E31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28800"/>
            <a:ext cx="329184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F63B144-B698-47E5-B506-45BFDE08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28800"/>
            <a:ext cx="32918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CF1DF0-1E35-412A-84E2-AB070DDA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057400"/>
            <a:ext cx="2889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Agrupar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7AC75AD-2DE8-48B5-9DC0-D6AB8D37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487168"/>
            <a:ext cx="2889504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Uma linha por titleType.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4F1080B-1670-4CF3-98BA-17D49F88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1828800"/>
            <a:ext cx="329184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0190075-B2FF-4BA1-A426-40F8A6DB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1828800"/>
            <a:ext cx="32918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59E2EC8-F1FD-4A59-845D-8CB5081A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2057400"/>
            <a:ext cx="2889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Contar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03E05CA-5E54-4203-928B-C28ACB6C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96" y="2487168"/>
            <a:ext cx="2889504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COUNT(*) em cada grupo.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5C0DED8-A143-4062-B9E1-C659151E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1828800"/>
            <a:ext cx="329184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DF93415-D02F-49EE-B6C0-6E2DB6C9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9016" y="1828800"/>
            <a:ext cx="329184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5CEB1A5-5501-4110-9D27-7657A808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057400"/>
            <a:ext cx="2889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Filtrar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2F3392A-EE3D-4B50-A0B0-B9B484B4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487168"/>
            <a:ext cx="2889504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startYear ≥ 1980, endYear &lt; 1990 e isAdult = 1.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094D12A-0F82-49C2-A567-E6F2F59F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3484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45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B73546"/>
                </a:solidFill>
                <a:latin typeface="Aptos"/>
                <a:ea typeface="Aptos"/>
                <a:cs typeface="Aptos"/>
              </a:rPr>
              <a:t>Condições a aplicar</a:t>
            </a:r>
            <a:endParaRPr sz="22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4BCC519-3911-4501-9BF4-C675108F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28032"/>
            <a:ext cx="102412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 obra tem de cumprir simultaneamente os dois limites temporais indicados.</a:t>
            </a:r>
            <a:endParaRPr sz="2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1541680-EC16-4B32-9807-CA5BC41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F6F7D"/>
                </a:solidFill>
                <a:latin typeface="Aptos"/>
                <a:ea typeface="Aptos"/>
                <a:cs typeface="Aptos"/>
              </a:rPr>
              <a:t>As duas condições têm de ser verdadeiras na mesma linha.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63CFF8-01ED-499A-B59A-C865E366A4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21129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115E62C-F04B-429B-8736-F43DF0A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8419E31-372A-4353-9239-6268F79D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Os dois limites temporais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1868451-1F88-4909-BE54-4601A6F1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O exercício define uma condição para o início e outra para o fim da obra.</a:t>
            </a:r>
            <a:endParaRPr sz="1500"/>
          </a:p>
        </p:txBody>
      </p:sp>
      <p:graphicFrame>
        <p:nvGraphicFramePr>
          <p:cNvPr id="30" name="Table 0"/>
          <p:cNvGraphicFramePr/>
          <p:nvPr/>
        </p:nvGraphicFramePr>
        <p:xfrm>
          <a:off xmlns:a="http://schemas.openxmlformats.org/drawingml/2006/main" x="731520" y="1828800"/>
          <a:ext xmlns:a="http://schemas.openxmlformats.org/drawingml/2006/main" cx="10698480" cy="15087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linha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startYear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endYear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startYear ≥ 1980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endYear &lt; 1990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1985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NULL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verdadeiro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desconhecido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B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1982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1988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verdadeiro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5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verdadeiro</a:t>
                      </a:r>
                      <a:endParaRPr sz="1500"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3152" marR="73152" marT="73152" marB="73152">
                    <a:lnL w="12700" cmpd="sng">
                      <a:solidFill>
                        <a:srgbClr val="D5E0E5"/>
                      </a:solidFill>
                      <a:prstDash val="solid"/>
                    </a:lnL>
                    <a:lnR w="12700" cmpd="sng">
                      <a:solidFill>
                        <a:srgbClr val="D5E0E5"/>
                      </a:solidFill>
                      <a:prstDash val="solid"/>
                    </a:lnR>
                    <a:lnT w="12700" cmpd="sng">
                      <a:solidFill>
                        <a:srgbClr val="D5E0E5"/>
                      </a:solidFill>
                      <a:prstDash val="solid"/>
                    </a:lnT>
                    <a:lnB w="12700" cmpd="sng">
                      <a:solidFill>
                        <a:srgbClr val="D5E0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43A24F4-9853-4DB7-91E9-B934E03E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507492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E9EC"/>
          </a:solidFill>
          <a:ln xmlns:a="http://schemas.openxmlformats.org/drawingml/2006/main" w="12700">
            <a:solidFill>
              <a:srgbClr val="B73546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9E820CD-B1C9-4F45-AF1C-E127CEBB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096512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02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B73546"/>
                </a:solidFill>
                <a:latin typeface="Aptos"/>
                <a:ea typeface="Aptos"/>
                <a:cs typeface="Aptos"/>
              </a:rPr>
              <a:t>Condição sobre o fim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280C015-1EA5-44DA-9F51-B8CBD36D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96512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588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12B"/>
                </a:solidFill>
                <a:latin typeface="Aptos"/>
                <a:ea typeface="Aptos"/>
                <a:cs typeface="Aptos"/>
              </a:rPr>
              <a:t>NULL não cumpre </a:t>
            </a:r>
            <a:r>
              <a:rPr sz="1800">
                <a:solidFill>
                  <a:srgbClr val="17212B"/>
                </a:solidFill>
                <a:latin typeface="Aptos"/>
                <a:ea typeface="Aptos"/>
                <a:cs typeface="Aptos"/>
              </a:rPr>
              <a:t>Condição sobre o fim</a:t>
            </a:r>
            <a:r>
              <a:rPr sz="1800">
                <a:solidFill>
                  <a:srgbClr val="17212B"/>
                </a:solidFill>
                <a:latin typeface="Aptos"/>
                <a:ea typeface="Aptos"/>
                <a:cs typeface="Aptos"/>
              </a:rPr>
              <a:t>.</a:t>
            </a:r>
            <a:endParaRPr sz="1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7255A58-FA83-43E2-BD03-4EC31AEA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886200"/>
            <a:ext cx="507492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5F5EF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4F38CE5-1B90-4620-967F-029C8FE7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96512"/>
            <a:ext cx="2240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11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3795B"/>
                </a:solidFill>
                <a:latin typeface="Aptos"/>
                <a:ea typeface="Aptos"/>
                <a:cs typeface="Aptos"/>
              </a:rPr>
              <a:t>Condição sobre o início</a:t>
            </a:r>
            <a:endParaRPr sz="2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4314FC0-C66E-4C15-8EC8-758ABC1B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096512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7900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17212B"/>
                </a:solidFill>
                <a:latin typeface="Aptos"/>
                <a:ea typeface="Aptos"/>
                <a:cs typeface="Aptos"/>
              </a:rPr>
              <a:t>startYear tem de ser ≥ 1980.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721C2FA-856C-494D-85CA-C28D0095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532120"/>
            <a:ext cx="8869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7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consulta aplica simultaneamente startYear ≥ 1980 e </a:t>
            </a:r>
            <a:r>
              <a:rPr sz="22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Condição sobre o fim</a:t>
            </a:r>
            <a:r>
              <a:rPr sz="22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.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52FE59C-97E9-4B3B-95D9-84221D6BA43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61095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226DA5E-E5AF-4197-8EA8-8681CAB2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F639937-8FCD-47D0-AF19-92F80533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Exercício 1 · desenhar o ensaio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B7A3C19-34D9-4C46-8588-C0B0A4D5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O aluno deve produzir evidência, não apenas um comando.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1202283-D312-4D03-9FCC-EA1D3B5E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24B4B60-C052-49E5-A049-3639FFBD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EE7FCF3-2109-4E69-AEF7-A41D3608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Executar sem índice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45743B1-5245-451D-B541-E7A224CB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2395728"/>
            <a:ext cx="1298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E0E5"/>
            </a:solidFill>
            <a:prstDash val="solid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60D0F7A-0FD9-435C-8C99-E6F4442C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7C7442A-8587-4806-9B44-70C3B2DF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5F08635-7A60-43AA-AB87-258F9120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Registar o tempo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46D1FE8-A3D6-41B4-8F84-50EDD657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104" y="2395728"/>
            <a:ext cx="1298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E0E5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013443F-7FA3-498E-9FB7-39EEA046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DF4202B-6244-4EE9-A5BE-BD36693F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EF6DB0C-0A8D-4472-940E-D3683CA5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Usar EXPLAIN</a:t>
            </a:r>
            <a:endParaRPr sz="14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F7A79C4-3C3F-45EF-8AE0-E07EF9A1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0056" y="2395728"/>
            <a:ext cx="1298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E0E5"/>
            </a:solidFill>
            <a:prstDash val="solid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DC908A2-05DE-4C35-B6EC-B1F139BE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6DA4661-295D-4030-B6B1-2EE1AC76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A1DA31D-E344-41E5-9747-974508D6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Criar um índice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7B5A1CB-EAD7-4715-A16D-AAE6AB1B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395728"/>
            <a:ext cx="1298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E0E5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AFEC1AAF-9336-4F6A-B097-5F75F5FC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7F9EABE-892A-451A-8182-C8EE3FDE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B5DC3CB-FF74-4C27-92AB-D9DCAC99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Repetir exatamente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67ED6831-E4EC-49EA-B748-94BD4996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95728"/>
            <a:ext cx="1298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E0E5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A39DC1E-ADE4-4471-8DC1-4EC3614C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13055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8B6E273-03E4-4170-B4A1-A909E43A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249424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8F45FC2-60BD-4B43-9EB7-F4FA85C8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788920"/>
            <a:ext cx="1234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Comparar e justificar</a:t>
            </a:r>
            <a:endParaRPr sz="14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E0CCB3D-BB25-494C-AA59-999D41E0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4800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3DF0F71-E19E-4C0C-8DE8-668285C0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48006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3546"/>
          </a:solidFill>
          <a:ln xmlns:a="http://schemas.openxmlformats.org/drawingml/2006/main" w="12700">
            <a:solidFill>
              <a:srgbClr val="B7354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582125E-35EF-41EA-8DEF-434C37B8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389120"/>
            <a:ext cx="43982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Medição da resolução original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BF702AB-B221-4937-82F2-9FCB5E25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728" y="4818888"/>
            <a:ext cx="439826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4,08 s → 2,49 s (aprox. 39% de melhoria).</a:t>
            </a:r>
            <a:endParaRPr sz="14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AA5DC06-A6C8-48FB-AACB-37C866BE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60520"/>
            <a:ext cx="4800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C175C38-2B91-483C-92C3-34E925D0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60520"/>
            <a:ext cx="48006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63FFC22-496D-4179-88A5-2BDFC8D3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389120"/>
            <a:ext cx="43982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Questão para experimentar</a:t>
            </a:r>
            <a:endParaRPr sz="1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F8A59B4-EAF2-437E-A954-DF9F5484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818888"/>
            <a:ext cx="439826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O índice deve acompanhar as colunas usadas no WHERE e no GROUP BY.</a:t>
            </a:r>
            <a:endParaRPr sz="140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EE07C1-D28C-42AA-82CE-DFF0A322650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5747411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F63B1D3-D4E7-4123-8452-8E98C044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2C27B2-B2EA-4E88-8F7A-78F3E712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Exercício 2 · Woody Allen como ele próprio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76DFEF0-D1B9-4665-A4AF-F623137B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pergunta exige uma procura por nome e um cruzamento por nconst.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CE034F-91E7-4ADA-A0AC-48EBB906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50851D0-0AD0-4DEF-9B2F-6F7827DF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C8B474-6C17-4CAA-85F2-4F403A8D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11680"/>
            <a:ext cx="30266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1 · Encontrar a pessoa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F11D2A8-C3B7-4671-8E8C-97AE9C5C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41448"/>
            <a:ext cx="3026664" cy="1527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namebasics.primaryName = 'Woody Allen'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BE66960-B849-4E0E-B1C4-5752C8C4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783080"/>
            <a:ext cx="3429000" cy="233172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C852F33-0E7D-4496-9421-4D989EF9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783080"/>
            <a:ext cx="34290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EF9FD86-47F8-4413-9D46-9CE10C66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11680"/>
            <a:ext cx="30266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2 · Chegar às participações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B597E98-3DB8-49C7-986D-61417038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3026664" cy="1527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titleprincipals.nconst = namebasics.nconst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3561D8B-5C65-4808-A07C-D86C3CE4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783080"/>
            <a:ext cx="3429000" cy="233172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1210C03-E5A7-443B-9C66-ABDB0E7E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783080"/>
            <a:ext cx="342900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7C95057-D11E-4397-90A4-4506E234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011680"/>
            <a:ext cx="30266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3 · Filtrar o papel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BB96DAC-0B1D-45AD-8634-6EE3923A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441448"/>
            <a:ext cx="3026664" cy="1527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characters = ['Himself']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09A92B8-9980-4B44-A97C-B323911C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709160"/>
            <a:ext cx="9966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7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Que coluna da tabela grande deve estar indexada?</a:t>
            </a:r>
            <a:endParaRPr sz="27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4047578-4226-4C07-8353-C53C8443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5349240"/>
            <a:ext cx="7680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>
                <a:solidFill>
                  <a:srgbClr val="5F6F7D"/>
                </a:solidFill>
                <a:latin typeface="Aptos"/>
                <a:ea typeface="Aptos"/>
                <a:cs typeface="Aptos"/>
              </a:rPr>
              <a:t>Use SHOW INDEX antes de criar qualquer índice.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6C22230-D730-4777-A91D-879B5B43AEB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91392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61307E-B0B5-4A67-9D51-D6762A50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7FC83C-E327-4A2C-8695-8E27F895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 índice altera a escala do problema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9591F1-37A2-4953-B6D1-077B67CD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mesma resposta, no mesmo ambiente, com e sem índice em titleprincipals.nconst.</a:t>
            </a:r>
            <a:endParaRPr sz="15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9568080-27F6-46F0-AEB0-EE5FCFD6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28800"/>
            <a:ext cx="3383280" cy="14630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23BFFF9-34C8-4B0A-9F5D-3667F826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2880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3FCE47E-34F0-43E8-B560-C3934C46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05740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Resultado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F1DF321-38F8-46D9-9796-9ADE7029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2487168"/>
            <a:ext cx="2980944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233 participações.</a:t>
            </a:r>
            <a:endParaRPr sz="14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8DB4C1E-BAE1-4D06-8A4D-911CF34C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703320"/>
            <a:ext cx="3383280" cy="14630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4031B38-A5CC-478F-81F4-00FD8095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70332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0BDC2C2-D4FF-4DCA-8E98-4D233359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393192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Diferença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7F45A67-A8C2-43C9-9CA7-0A0CE2BD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6448" y="4361688"/>
            <a:ext cx="2980944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Cerca de 68× mais rápido.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F028A7-846F-4442-8505-F49DE30FDD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822960" y="1600200"/>
          <a:ext xmlns:a="http://schemas.openxmlformats.org/drawingml/2006/main" cx="6675120" cy="4251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2e285d9ce94b1d"/>
          </a:graphicData>
        </a:graphic>
      </p:graphicFrame>
    </p:spTree>
    <p:extLst>
      <p:ext uri="{BB962C8B-B14F-4D97-AF65-F5344CB8AC3E}">
        <p14:creationId xmlns:p14="http://schemas.microsoft.com/office/powerpoint/2010/main" val="13809576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791386-0D0E-459A-A8C5-86169732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2C306AE-71C6-48C1-A261-5BA61749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Exercício 3 · acrescentar os títulos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9D39848-8A23-41CA-8A5B-6516F764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contagem transforma-se numa lista e passa a atravessar a terceira tabela.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83ECDEC-FF54-4860-A2DC-8561BEE1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154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224A2FC-B116-435F-B448-7022A050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94560"/>
            <a:ext cx="2788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namebasics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32CC59-65A6-48F6-B3D2-28E3ABA8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2788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5F6F7D"/>
                </a:solidFill>
                <a:latin typeface="Aptos"/>
                <a:ea typeface="Aptos"/>
                <a:cs typeface="Aptos"/>
              </a:rPr>
              <a:t>Woody Allen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2C78A4A-9BAC-47B3-920C-8827119B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715768"/>
            <a:ext cx="530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3A46EBD-A581-46D6-B0DE-F82D4698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1965960"/>
            <a:ext cx="3154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5AE9BE5-DDB1-451F-99F0-49C3C424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2194560"/>
            <a:ext cx="2788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titleprincipals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1893432-C2E8-4020-9C57-27B330C4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2697480"/>
            <a:ext cx="2788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5F6F7D"/>
                </a:solidFill>
                <a:latin typeface="Aptos"/>
                <a:ea typeface="Aptos"/>
                <a:cs typeface="Aptos"/>
              </a:rPr>
              <a:t>['Himself']</a:t>
            </a:r>
            <a:endParaRPr sz="16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646A37A-F0C9-4422-BFC1-D09DD3C4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544" y="2715768"/>
            <a:ext cx="530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0045B61-4C77-4AAE-9155-D067200C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1965960"/>
            <a:ext cx="3154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87F8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4517E94-2BA7-4F83-B145-C96F3D27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194560"/>
            <a:ext cx="2788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titlebasics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D8C91A4-806C-439C-919A-50D9C497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697480"/>
            <a:ext cx="2788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5F6F7D"/>
                </a:solidFill>
                <a:latin typeface="Aptos"/>
                <a:ea typeface="Aptos"/>
                <a:cs typeface="Aptos"/>
              </a:rPr>
              <a:t>movie · primaryTitle</a:t>
            </a:r>
            <a:endParaRPr sz="16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A2129C8-879D-421D-966B-75E93142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B73546"/>
                </a:solidFill>
                <a:latin typeface="Aptos"/>
                <a:ea typeface="Aptos"/>
                <a:cs typeface="Aptos"/>
              </a:rPr>
              <a:t>Desafio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596D266-86EE-40D3-86ED-FCBB3FD1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81728"/>
            <a:ext cx="102412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Que igualdade liga a participação à obra? Porque a PK de titlebasics já ajuda esta procura?</a:t>
            </a:r>
            <a:endParaRPr sz="24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9852F16-02FD-472B-8442-EA01147C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96128"/>
            <a:ext cx="6400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F6F7D"/>
                </a:solidFill>
                <a:latin typeface="Aptos"/>
                <a:ea typeface="Aptos"/>
                <a:cs typeface="Aptos"/>
              </a:rPr>
              <a:t>Resultado de referência: 21 linhas · 0,62 s.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9A34659-291F-4631-A045-7F5143AFE67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839824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5B0224-4E29-4F18-A905-4F48581F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09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0068BC8-4710-49A6-93E9-65F44663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EXPLAIN: procurar sinais, não decorar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6DD7D33-A144-4934-816A-AC799440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O plano permite justificar o tempo observado.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99AEDE6-71EF-477C-9D02-1394D320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83080"/>
            <a:ext cx="338328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301155F-F411-47FB-9106-7A339C7E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8308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5DB8EE-CE6E-47F5-8CF6-0760A189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01168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table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50AA160-F569-49A8-9B7C-E850E94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441448"/>
            <a:ext cx="2980944" cy="2441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Que tabela está a ser consultada em cada passo?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9976DDE-7202-4020-9008-368AB0E1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1783080"/>
            <a:ext cx="338328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A235B7C-429F-4E54-9FB2-0107C0E0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178308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0789670-EFFE-466D-B002-AF534D94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01168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key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C87C4B1-BB9E-4632-98D0-F4326CD9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41448"/>
            <a:ext cx="2980944" cy="2441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Que índice foi realmente escolhido?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11E828D-3A47-4934-ACB2-BC2847C8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1783080"/>
            <a:ext cx="338328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2EB5A68-9AC4-41F9-9C7F-9E231209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1783080"/>
            <a:ext cx="33832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B5549E6-530B-40B4-972D-ADEC8D00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011680"/>
            <a:ext cx="2980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rows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2F1D7E4-C509-4956-9FB5-2E64EF06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441448"/>
            <a:ext cx="2980944" cy="2441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Quantas linhas estima o MySQL examinar?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9077A41-DF5E-4383-8A81-41477F7F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59552"/>
            <a:ext cx="10149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Um índice criado mas ausente em key não está a ajudar aquele passo do plano.</a:t>
            </a:r>
            <a:endParaRPr sz="2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ED0D9-1C0D-4067-A459-7531707B51D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218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0518471-50E0-4D61-B97B-A9DF26A7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10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D15E24-DEAF-4372-9CD6-2FA068AB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Restaurar a base de dados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1944D6B-9D4A-4514-8528-7D1FECE0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Um ensaio termina quando as alterações experimentais são removidas.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5D7A99-20B2-4D69-82D4-4748A733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91640"/>
            <a:ext cx="6720840" cy="3246120"/>
          </a:xfrm>
          <a:prstGeom xmlns:a="http://schemas.openxmlformats.org/drawingml/2006/main" prst="roundRect">
            <a:avLst>
              <a:gd name="adj" fmla="val 169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12700">
            <a:solidFill>
              <a:srgbClr val="0D2235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B3CAA8B-3128-4693-8694-3423EE2C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1856232"/>
            <a:ext cx="6318504" cy="29169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SHOW INDEX FROM titlebasics;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SHOW INDEX FROM titleprincipals;</a:t>
            </a:r>
            <a:endParaRPr sz="1300"/>
          </a:p>
          <a:p xmlns:a="http://schemas.openxmlformats.org/drawingml/2006/main">
            <a:pPr marL="0" indent="0">
              <a:buNone/>
            </a:pP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-- Remover apenas os índices criados no exercício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EF8FA"/>
                </a:solidFill>
                <a:latin typeface="Aptos Mono"/>
                <a:ea typeface="Aptos Mono"/>
                <a:cs typeface="Aptos Mono"/>
              </a:rPr>
              <a:t>DROP INDEX nome_do_indice ON nome_da_tabela;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F0D8E0D-7FE5-4FF9-803E-5566C12D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91640"/>
            <a:ext cx="324612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0607061-3C14-4668-BED3-14E7B833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91640"/>
            <a:ext cx="324612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7C42DD9-2ECB-478B-81B7-23C1381F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920240"/>
            <a:ext cx="28437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Antes</a:t>
            </a:r>
            <a:endParaRPr sz="1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CF27A74-8CA8-472D-8DEE-42BA1EC1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2350008"/>
            <a:ext cx="2843784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Registe os índices existentes.</a:t>
            </a:r>
            <a:endParaRPr sz="14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8A5514-9E3D-40CF-A939-D2A711AD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520440"/>
            <a:ext cx="324612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03F9D80-4992-4918-8DC9-B534DE03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520440"/>
            <a:ext cx="324612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795B"/>
          </a:solidFill>
          <a:ln xmlns:a="http://schemas.openxmlformats.org/drawingml/2006/main" w="12700">
            <a:solidFill>
              <a:srgbClr val="13795B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E21390D-8A8D-4B1E-AA4E-E09A6628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3749040"/>
            <a:ext cx="28437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Depois</a:t>
            </a:r>
            <a:endParaRPr sz="1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1D3B4BD-2390-49B6-B1EC-BFFC7773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4178808"/>
            <a:ext cx="2843784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5F6F7D"/>
                </a:solidFill>
                <a:latin typeface="Aptos"/>
                <a:ea typeface="Aptos"/>
                <a:cs typeface="Aptos"/>
              </a:rPr>
              <a:t>Confirme que o estado inicial foi reposto.</a:t>
            </a:r>
            <a:endParaRPr sz="14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690F593-0D55-419D-912C-85DC2982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532120"/>
            <a:ext cx="9966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B73546"/>
                </a:solidFill>
                <a:latin typeface="Aptos"/>
                <a:ea typeface="Aptos"/>
                <a:cs typeface="Aptos"/>
              </a:rPr>
              <a:t>Nunca elimine um índice apenas porque não foi criado por si nesta sessão.</a:t>
            </a:r>
            <a:endParaRPr sz="2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2A0EDDD-510C-49D7-A6C1-61D6023E3D7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688771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E1D5C4B-066D-423E-AE4E-785DC821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749808"/>
            <a:ext cx="685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11</a:t>
            </a:r>
            <a:endParaRPr sz="1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A8D5C04-B10E-4A23-A34A-E16AA17B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658368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 método que deve ficar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E0A3357-6B12-4628-BBD4-47E88473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188720"/>
            <a:ext cx="9784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5F6F7D"/>
                </a:solidFill>
                <a:latin typeface="Aptos"/>
                <a:ea typeface="Aptos"/>
                <a:cs typeface="Aptos"/>
              </a:rPr>
              <a:t>A aprendizagem não é memorizar um CREATE INDEX.</a:t>
            </a:r>
            <a:endParaRPr sz="15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43C7DB4-625E-4D4C-8DA1-86589765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F7F259-FA3E-4B6A-9EB3-7894E9F5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920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3DEB0C2-1817-4C45-ABCA-D681058E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0665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081BA3B-7678-4DFB-AFA1-6C83A3A4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1874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Compreender</a:t>
            </a:r>
            <a:endParaRPr sz="1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911266-711A-4DBB-8A2B-F6C62FA9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23042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Traduzir literalmente o enunciado.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FE91D34-79A5-4BD6-B6B0-32AC458E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6459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FDDCF21-D70D-406D-AE23-E1BAC63B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1920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4D20834-2514-4FCA-AD65-F183C7A8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0665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59BAD9E-37D3-460E-A308-FC23E322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1874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Validar</a:t>
            </a:r>
            <a:endParaRPr sz="19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3BE70BF-E673-4832-97C9-5C99608D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3042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Testar NULL e casos-limite.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F620AC2-181D-48BE-9993-2B08FD78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6459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A7EAD23-56B2-4F2B-9ED7-E4E5D98E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9202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12700">
            <a:solidFill>
              <a:srgbClr val="087F8C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66589BE-1AD4-4CB9-AD80-E34BF5B3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0665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3960111-20DC-4B43-9929-BAD5B092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745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Medir</a:t>
            </a:r>
            <a:endParaRPr sz="19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AD5112D-F1BB-4E3D-A483-7C96B54C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23042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Guardar o tempo inicial.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3D7E2B7-C651-4FE8-B698-1B6FDDC8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033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5017B3C-6D20-4E5C-B096-542205B0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9776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F836BB0-B709-4032-BFD0-9CD70D11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239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5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DF91227-B60D-48B0-9780-76752C51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39319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Observar</a:t>
            </a:r>
            <a:endParaRPr sz="19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4F9996F-7F93-4306-89FE-7B0D2E9D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632" y="43616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Ler EXPLAIN e SHOW INDEX.</a:t>
            </a:r>
            <a:endParaRPr sz="13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5A3002C-BB36-4008-B4F3-5346BA0E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7033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D0D7DE1-A08F-426F-B158-EC7E079B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39776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4839E22-6E94-45EA-9B86-241B8416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239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91117A8-8AE1-4645-BE09-17053052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39319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Experimentar</a:t>
            </a:r>
            <a:endParaRPr sz="19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D9512E2-DDA9-4DCD-99B0-26DBD06A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43616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Criar um índice coerente.</a:t>
            </a:r>
            <a:endParaRPr sz="13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FD41055-6254-456E-BC86-CFAA502E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703320"/>
            <a:ext cx="333756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5E0E5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18319C69-6473-4794-8C41-461EF633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977640"/>
            <a:ext cx="566928" cy="5669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 w="12700">
            <a:solidFill>
              <a:srgbClr val="F2B134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7BEF521-5D4B-42FF-B219-335C0977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4123944"/>
            <a:ext cx="5669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F74C0BE-4381-4F9E-87DC-217CF829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393192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Confirmar</a:t>
            </a:r>
            <a:endParaRPr sz="19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4CA0EF-3A51-4DD9-A145-F511AEA4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4361688"/>
            <a:ext cx="2148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5F6F7D"/>
                </a:solidFill>
                <a:latin typeface="Aptos"/>
                <a:ea typeface="Aptos"/>
                <a:cs typeface="Aptos"/>
              </a:rPr>
              <a:t>Repetir e restaurar.</a:t>
            </a:r>
            <a:endParaRPr sz="1300"/>
          </a:p>
        </p:txBody>
      </p:sp>
      <p:sp>
        <p:nvSpPr>
          <p:cNvPr id="3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D5DB217-051F-421D-BDAF-15F270DB472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30000" y="6510528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5F6F7D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05531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2026-10-02T17:53:32.1570000Z</dcterms:created>
  <dcterms:modified xsi:type="dcterms:W3CDTF">2026-10-02T17:53:32.1570000Z</dcterms:modified>
</coreProperties>
</file>