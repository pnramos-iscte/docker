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ad1040e7c94486" /><Relationship Type="http://schemas.openxmlformats.org/officeDocument/2006/relationships/extended-properties" Target="/docProps/app.xml" Id="R80602f16470646e9" /><Relationship Type="http://schemas.openxmlformats.org/officeDocument/2006/relationships/officeDocument" Target="/ppt/presentation.xml" Id="R1c12039b12d746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c072d7d2ad44b3"/>
  </p:sldMasterIdLst>
  <p:notesMasterIdLst>
    <p:notesMasterId xmlns:r="http://schemas.openxmlformats.org/officeDocument/2006/relationships" r:id="Re85cc4a45bfb43e7"/>
  </p:notesMasterIdLst>
  <p:sldIdLst>
    <p:sldId xmlns:r="http://schemas.openxmlformats.org/officeDocument/2006/relationships" id="256" r:id="R48ed38f6177c4720"/>
    <p:sldId xmlns:r="http://schemas.openxmlformats.org/officeDocument/2006/relationships" id="257" r:id="R5418c59635424b1f"/>
    <p:sldId xmlns:r="http://schemas.openxmlformats.org/officeDocument/2006/relationships" id="258" r:id="R015365a501d54255"/>
    <p:sldId xmlns:r="http://schemas.openxmlformats.org/officeDocument/2006/relationships" id="259" r:id="Re9526338fac046db"/>
    <p:sldId xmlns:r="http://schemas.openxmlformats.org/officeDocument/2006/relationships" id="260" r:id="R8c1be4da2da54809"/>
    <p:sldId xmlns:r="http://schemas.openxmlformats.org/officeDocument/2006/relationships" id="261" r:id="Rb79c07ee298240f8"/>
    <p:sldId xmlns:r="http://schemas.openxmlformats.org/officeDocument/2006/relationships" id="262" r:id="R9e23f7852516418c"/>
    <p:sldId xmlns:r="http://schemas.openxmlformats.org/officeDocument/2006/relationships" id="263" r:id="Rfd086a2aa9444d7e"/>
    <p:sldId xmlns:r="http://schemas.openxmlformats.org/officeDocument/2006/relationships" id="264" r:id="R1d67ea63802f4e65"/>
    <p:sldId xmlns:r="http://schemas.openxmlformats.org/officeDocument/2006/relationships" id="265" r:id="R6ae378c71411425d"/>
    <p:sldId xmlns:r="http://schemas.openxmlformats.org/officeDocument/2006/relationships" id="266" r:id="Rfdace1e9dd574649"/>
    <p:sldId xmlns:r="http://schemas.openxmlformats.org/officeDocument/2006/relationships" id="267" r:id="Rf047544c2cde4d2a"/>
    <p:sldId xmlns:r="http://schemas.openxmlformats.org/officeDocument/2006/relationships" id="268" r:id="R24a4f2f5f67d4038"/>
    <p:sldId xmlns:r="http://schemas.openxmlformats.org/officeDocument/2006/relationships" id="269" r:id="R68155c7bd5fd45da"/>
    <p:sldId xmlns:r="http://schemas.openxmlformats.org/officeDocument/2006/relationships" id="270" r:id="R50915b97fe494f9b"/>
    <p:sldId xmlns:r="http://schemas.openxmlformats.org/officeDocument/2006/relationships" id="271" r:id="Rd7073f06fbf44d02"/>
    <p:sldId xmlns:r="http://schemas.openxmlformats.org/officeDocument/2006/relationships" id="272" r:id="Rfc617b82892a4239"/>
    <p:sldId xmlns:r="http://schemas.openxmlformats.org/officeDocument/2006/relationships" id="273" r:id="Rb61a3b1f9f3245ca"/>
    <p:sldId xmlns:r="http://schemas.openxmlformats.org/officeDocument/2006/relationships" id="274" r:id="Rd7ffb7720aaa4c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4237859d64fb0" /><Relationship Type="http://schemas.openxmlformats.org/officeDocument/2006/relationships/slideMaster" Target="/ppt/slideMasters/slideMaster1.xml" Id="R40c072d7d2ad44b3" /><Relationship Type="http://schemas.openxmlformats.org/officeDocument/2006/relationships/notesMaster" Target="/ppt/notesMasters/notesMaster1.xml" Id="Re85cc4a45bfb43e7" /><Relationship Type="http://schemas.openxmlformats.org/officeDocument/2006/relationships/presProps" Target="/ppt/presProps.xml" Id="R6d8e66cf906a481f" /><Relationship Type="http://schemas.openxmlformats.org/officeDocument/2006/relationships/tableStyles" Target="/ppt/tableStyles.xml" Id="Rd6ccfd0d3e1a45ff" /><Relationship Type="http://schemas.openxmlformats.org/officeDocument/2006/relationships/slide" Target="/ppt/slides/slide1.xml" Id="R48ed38f6177c4720" /><Relationship Type="http://schemas.openxmlformats.org/officeDocument/2006/relationships/slide" Target="/ppt/slides/slide2.xml" Id="R5418c59635424b1f" /><Relationship Type="http://schemas.openxmlformats.org/officeDocument/2006/relationships/slide" Target="/ppt/slides/slide3.xml" Id="R015365a501d54255" /><Relationship Type="http://schemas.openxmlformats.org/officeDocument/2006/relationships/slide" Target="/ppt/slides/slide4.xml" Id="Re9526338fac046db" /><Relationship Type="http://schemas.openxmlformats.org/officeDocument/2006/relationships/slide" Target="/ppt/slides/slide5.xml" Id="R8c1be4da2da54809" /><Relationship Type="http://schemas.openxmlformats.org/officeDocument/2006/relationships/slide" Target="/ppt/slides/slide6.xml" Id="Rb79c07ee298240f8" /><Relationship Type="http://schemas.openxmlformats.org/officeDocument/2006/relationships/slide" Target="/ppt/slides/slide7.xml" Id="R9e23f7852516418c" /><Relationship Type="http://schemas.openxmlformats.org/officeDocument/2006/relationships/slide" Target="/ppt/slides/slide8.xml" Id="Rfd086a2aa9444d7e" /><Relationship Type="http://schemas.openxmlformats.org/officeDocument/2006/relationships/slide" Target="/ppt/slides/slide9.xml" Id="R1d67ea63802f4e65" /><Relationship Type="http://schemas.openxmlformats.org/officeDocument/2006/relationships/slide" Target="/ppt/slides/slide10.xml" Id="R6ae378c71411425d" /><Relationship Type="http://schemas.openxmlformats.org/officeDocument/2006/relationships/slide" Target="/ppt/slides/slide11.xml" Id="Rfdace1e9dd574649" /><Relationship Type="http://schemas.openxmlformats.org/officeDocument/2006/relationships/slide" Target="/ppt/slides/slide12.xml" Id="Rf047544c2cde4d2a" /><Relationship Type="http://schemas.openxmlformats.org/officeDocument/2006/relationships/slide" Target="/ppt/slides/slide13.xml" Id="R24a4f2f5f67d4038" /><Relationship Type="http://schemas.openxmlformats.org/officeDocument/2006/relationships/slide" Target="/ppt/slides/slide14.xml" Id="R68155c7bd5fd45da" /><Relationship Type="http://schemas.openxmlformats.org/officeDocument/2006/relationships/slide" Target="/ppt/slides/slide15.xml" Id="R50915b97fe494f9b" /><Relationship Type="http://schemas.openxmlformats.org/officeDocument/2006/relationships/slide" Target="/ppt/slides/slide16.xml" Id="Rd7073f06fbf44d02" /><Relationship Type="http://schemas.openxmlformats.org/officeDocument/2006/relationships/slide" Target="/ppt/slides/slide17.xml" Id="Rfc617b82892a4239" /><Relationship Type="http://schemas.openxmlformats.org/officeDocument/2006/relationships/slide" Target="/ppt/slides/slide18.xml" Id="Rb61a3b1f9f3245ca" /><Relationship Type="http://schemas.openxmlformats.org/officeDocument/2006/relationships/slide" Target="/ppt/slides/slide19.xml" Id="Rd7ffb7720aaa4c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56d11a259b4f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e533e728724c1c" /><Relationship Type="http://schemas.openxmlformats.org/officeDocument/2006/relationships/notesMaster" Target="/ppt/notesMasters/notesMaster1.xml" Id="Rb8ea3b5a58314e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b178812aa84c42" /><Relationship Type="http://schemas.openxmlformats.org/officeDocument/2006/relationships/notesMaster" Target="/ppt/notesMasters/notesMaster1.xml" Id="Rf3e2e34d294c42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df9db964624d98" /><Relationship Type="http://schemas.openxmlformats.org/officeDocument/2006/relationships/notesMaster" Target="/ppt/notesMasters/notesMaster1.xml" Id="Rc31e2bc97ad041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9f3f57dfc24bac" /><Relationship Type="http://schemas.openxmlformats.org/officeDocument/2006/relationships/notesMaster" Target="/ppt/notesMasters/notesMaster1.xml" Id="Re843bedef3f345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3cfc195c04ba9" /><Relationship Type="http://schemas.openxmlformats.org/officeDocument/2006/relationships/notesMaster" Target="/ppt/notesMasters/notesMaster1.xml" Id="R146b2ea2f4d540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5187e4f7774070" /><Relationship Type="http://schemas.openxmlformats.org/officeDocument/2006/relationships/notesMaster" Target="/ppt/notesMasters/notesMaster1.xml" Id="Re87ed7477928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637276f5ee40f7" /><Relationship Type="http://schemas.openxmlformats.org/officeDocument/2006/relationships/notesMaster" Target="/ppt/notesMasters/notesMaster1.xml" Id="R018804381e9740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20d12fbaf84960" /><Relationship Type="http://schemas.openxmlformats.org/officeDocument/2006/relationships/notesMaster" Target="/ppt/notesMasters/notesMaster1.xml" Id="R00ec9476a59b4f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4cd75609ce47e1" /><Relationship Type="http://schemas.openxmlformats.org/officeDocument/2006/relationships/notesMaster" Target="/ppt/notesMasters/notesMaster1.xml" Id="R5888161619ee4d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dfc3a068f040b6" /><Relationship Type="http://schemas.openxmlformats.org/officeDocument/2006/relationships/notesMaster" Target="/ppt/notesMasters/notesMaster1.xml" Id="Rc71539dedbcf4d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2451c660b74037" /><Relationship Type="http://schemas.openxmlformats.org/officeDocument/2006/relationships/notesMaster" Target="/ppt/notesMasters/notesMaster1.xml" Id="R503a84784e4446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531aebb50f4cc6" /><Relationship Type="http://schemas.openxmlformats.org/officeDocument/2006/relationships/notesMaster" Target="/ppt/notesMasters/notesMaster1.xml" Id="R51a3faddb77f42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c5be80ad9e4cb6" /><Relationship Type="http://schemas.openxmlformats.org/officeDocument/2006/relationships/notesMaster" Target="/ppt/notesMasters/notesMaster1.xml" Id="R558fc64d571a47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a4bbe6b88d42f9" /><Relationship Type="http://schemas.openxmlformats.org/officeDocument/2006/relationships/notesMaster" Target="/ppt/notesMasters/notesMaster1.xml" Id="R8a8a121c10984c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7c460a15e949fb" /><Relationship Type="http://schemas.openxmlformats.org/officeDocument/2006/relationships/notesMaster" Target="/ppt/notesMasters/notesMaster1.xml" Id="Rf5814e4febd04d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242e8eceff41d6" /><Relationship Type="http://schemas.openxmlformats.org/officeDocument/2006/relationships/notesMaster" Target="/ppt/notesMasters/notesMaster1.xml" Id="R8a7f7c71713b4a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ae8dd302c04dc9" /><Relationship Type="http://schemas.openxmlformats.org/officeDocument/2006/relationships/notesMaster" Target="/ppt/notesMasters/notesMaster1.xml" Id="R23a9bd32b4d949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b5da65d8714125" /><Relationship Type="http://schemas.openxmlformats.org/officeDocument/2006/relationships/notesMaster" Target="/ppt/notesMasters/notesMaster1.xml" Id="R518ae7fa1caf46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f1b2a683344c68" /><Relationship Type="http://schemas.openxmlformats.org/officeDocument/2006/relationships/notesMaster" Target="/ppt/notesMasters/notesMaster1.xml" Id="R65c3b0cbfe9c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dc211e3ca46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86506e979a4fbd" /><Relationship Type="http://schemas.openxmlformats.org/officeDocument/2006/relationships/slideLayout" Target="/ppt/slideLayouts/slideLayout1.xml" Id="Rc8aff3bb750e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aff3bb750e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f0f9cecd94221" /><Relationship Type="http://schemas.openxmlformats.org/officeDocument/2006/relationships/notesSlide" Target="/ppt/notesSlides/notesSlide1.xml" Id="Rea037d047b22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0f26ee51d46cd" /><Relationship Type="http://schemas.openxmlformats.org/officeDocument/2006/relationships/notesSlide" Target="/ppt/notesSlides/notesSlide2.xml" Id="R3a4d2fe77f6e41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af861d27f4ecc" /><Relationship Type="http://schemas.openxmlformats.org/officeDocument/2006/relationships/notesSlide" Target="/ppt/notesSlides/notesSlide3.xml" Id="R699b7f02e49047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9862272844ce8" /><Relationship Type="http://schemas.openxmlformats.org/officeDocument/2006/relationships/notesSlide" Target="/ppt/notesSlides/notesSlide4.xml" Id="R103a866fd21047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6b6187594470a" /><Relationship Type="http://schemas.openxmlformats.org/officeDocument/2006/relationships/notesSlide" Target="/ppt/notesSlides/notesSlide5.xml" Id="R455d62ab571445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6e85b03334ef2" /><Relationship Type="http://schemas.openxmlformats.org/officeDocument/2006/relationships/notesSlide" Target="/ppt/notesSlides/notesSlide6.xml" Id="R488c82f9061f4a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8efe697145bd" /><Relationship Type="http://schemas.openxmlformats.org/officeDocument/2006/relationships/notesSlide" Target="/ppt/notesSlides/notesSlide7.xml" Id="R7952286dee0d43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b174602c54f14" /><Relationship Type="http://schemas.openxmlformats.org/officeDocument/2006/relationships/notesSlide" Target="/ppt/notesSlides/notesSlide8.xml" Id="R18a8eeea7c9947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716c3b4db4b9e" /><Relationship Type="http://schemas.openxmlformats.org/officeDocument/2006/relationships/notesSlide" Target="/ppt/notesSlides/notesSlide9.xml" Id="R5873a1d5069942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13064e90b4255" /><Relationship Type="http://schemas.openxmlformats.org/officeDocument/2006/relationships/notesSlide" Target="/ppt/notesSlides/notesSlide10.xml" Id="Reaf9541da57043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ec17a662941f4" /><Relationship Type="http://schemas.openxmlformats.org/officeDocument/2006/relationships/notesSlide" Target="/ppt/notesSlides/notesSlide11.xml" Id="Rd4b6fa6cf0b04f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85d4bbb074fb7" /><Relationship Type="http://schemas.openxmlformats.org/officeDocument/2006/relationships/notesSlide" Target="/ppt/notesSlides/notesSlide12.xml" Id="Ra5b83fafce4f47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47f95f6334870" /><Relationship Type="http://schemas.openxmlformats.org/officeDocument/2006/relationships/notesSlide" Target="/ppt/notesSlides/notesSlide13.xml" Id="Rb5b762bab31841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dd724147b497a" /><Relationship Type="http://schemas.openxmlformats.org/officeDocument/2006/relationships/notesSlide" Target="/ppt/notesSlides/notesSlide14.xml" Id="R1c1fc9f610064e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3223974dc416e" /><Relationship Type="http://schemas.openxmlformats.org/officeDocument/2006/relationships/notesSlide" Target="/ppt/notesSlides/notesSlide15.xml" Id="R133224027c7a40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4a1097e574604" /><Relationship Type="http://schemas.openxmlformats.org/officeDocument/2006/relationships/notesSlide" Target="/ppt/notesSlides/notesSlide16.xml" Id="R296dfd6784fa4a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01319518c4052" /><Relationship Type="http://schemas.openxmlformats.org/officeDocument/2006/relationships/notesSlide" Target="/ppt/notesSlides/notesSlide17.xml" Id="Re43fc2a93dc34f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21a21837e4c0f" /><Relationship Type="http://schemas.openxmlformats.org/officeDocument/2006/relationships/notesSlide" Target="/ppt/notesSlides/notesSlide18.xml" Id="Rd292c604af6449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77379ff5f48f3" /><Relationship Type="http://schemas.openxmlformats.org/officeDocument/2006/relationships/notesSlide" Target="/ppt/notesSlides/notesSlide19.xml" Id="R589121e128f645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53D1F-974E-4921-ADC7-F5380DF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19AF8-F437-47E1-A297-ED660523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CF229-A768-4EBB-BB44-E09BDAFF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TUTORIAL PARA PRINCIPIANTES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0DEB7-EB1D-4B76-961E-DAD138F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 desde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princípio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56868-9253-407E-9081-21875BE7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6E7EE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6E7EE"/>
                </a:solidFill>
                <a:latin typeface="Aptos"/>
                <a:ea typeface="Aptos"/>
                <a:cs typeface="Aptos"/>
              </a:rPr>
              <a:t>Structured Query Language</a:t>
            </a:r>
          </a:p>
          <a:p xmlns:a="http://schemas.openxmlformats.org/drawingml/2006/main">
            <a:pPr algn="l">
              <a:defRPr sz="1950" b="0">
                <a:solidFill>
                  <a:srgbClr val="D6E7EE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6E7EE"/>
                </a:solidFill>
                <a:latin typeface="Aptos"/>
                <a:ea typeface="Aptos"/>
                <a:cs typeface="Aptos"/>
              </a:rPr>
              <a:t>Linguagem de Consulta Estruturada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CA12D-F9E2-42FF-8E95-CA3C1E23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Pedro Ramos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224E4-B003-4154-AB4B-0FA842B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B2340-DD60-4354-90F5-8EE7821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19250"/>
            <a:ext cx="31813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u.nome, COUNT(*) AS total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JOIN post AS p ON p.utilizador_id = u.utilizador_id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GROUP BY u.utilizador_id, u.nome;</a:t>
            </a:r>
          </a:p>
        </p:txBody>
      </p:sp>
    </p:spTree>
    <p:extLst>
      <p:ext uri="{BB962C8B-B14F-4D97-AF65-F5344CB8AC3E}">
        <p14:creationId xmlns:p14="http://schemas.microsoft.com/office/powerpoint/2010/main" val="19221834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464C3-AA82-43DC-B538-690B028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F736B-253B-42D5-AB65-1688426E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B691D-5C62-4C2C-95E3-7E952A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596CC-8E31-46A1-B11E-18FDE5F0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origem e a ideia do 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08F7A-AD76-4C27-AB26-3ED3895B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5D93B-9B1E-45C2-AEF4-97EEDAFA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7A322-F760-44DD-A25E-432E762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1970 · Codd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14650-45D6-41DD-A8BC-3842C59D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 modelo relacional organiza dados em relações e assenta em ideias matemáticas.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3024C-EEDB-472A-8E6A-137448DA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D5C0E-6A92-4D07-BF90-3E9D1AAE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A0D26-4715-4EEC-AB72-A1F96D1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71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1974 · SEQUEL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06DD5-A80C-4AB2-A32A-AC16B2B2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Chamberlin e Boyce propõem uma linguagem para consultar o modelo relacional.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E5DB1-3C96-4F3A-81C8-265E3E2D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382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6EEAC-B6DE-47CB-A3CB-B08F753C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38250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90B0F-FD99-4D91-B906-308164D7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71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E6BE9-7D78-4EB9-B17D-0AAB1885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Descreve o resultado pretendido. O SGBD decide como o obter.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A1A1A-D289-48CD-97F3-E0FACA8E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C9F31-FF6D-4EFA-B419-166361D5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SQL é declarativa, tem um standard comum e não é compilada como 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C797D-4790-48AE-8314-B3C95946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02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13459575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031DA-AC97-4E2B-B3AB-1D305CE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74685-851F-4D34-AD30-D072B822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0B8B8-779D-4186-8F26-A491FD5C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BED32-8631-499F-8C3C-8FA0976D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 três tabelas dos exemplos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CD8C5-8109-447C-B852-579D89D9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23850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E3967-E2AE-4005-8455-E10061F3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238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5F21A-6946-458E-AECF-FCC998AC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33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2D882-76B7-4F0A-B2A3-8123C47F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95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Ana · país 1 · 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534C7-DC11-4FD7-B1BF-56BD25B6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219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3FA09-1CC5-4093-8509-98FFC90F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669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102 · Bruno · país 2 · 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E68A0-6740-45AE-9CE6-F274494B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105 · Eva · país NULL · 57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7E23F-6EE0-4391-B825-96740408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2857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1D8A6-6C27-4CFE-95C3-8920B78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1FA52-2CC7-4A6A-B7F1-91C8954C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335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ABB0E-6059-421A-A80A-30754616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· Portugal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594C3-2ADA-4576-B474-ED094DD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38350"/>
            <a:ext cx="2838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8EA1A-2C28-45C2-ABB3-F7AE1D3E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669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 · Brasil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2959C-4A3F-4E78-B9EB-B3938C43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· Espanha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EEA06-A89E-4EDC-BD34-26E86F08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81300"/>
            <a:ext cx="2838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CA96C-B30D-43A6-8DD0-1313DE52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98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Angola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5A6C5-1C8F-4515-A6CE-455DE53D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85875"/>
            <a:ext cx="361950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8ABCE-32D9-441C-BEF9-03A2D0A2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85875"/>
            <a:ext cx="3619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7D526-F851-4E0C-96E8-C8B47511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333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88CC3-579F-473D-B5A3-25FF4D0E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954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1001 · autor 101 · 12 gostos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DBFE5-1E8B-4CCD-92ED-A2771DFA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600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98047-53E3-4741-8F7F-E3AF2ECA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06692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1002 · autor 101 · 8 gostos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56444-D9AB-4EAB-81AC-8DBC340D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384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1003 · autor 102 · 21 gostos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80D282-3771-4D6B-855C-EC23AF5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15B4B-D280-4AD4-A851-8162EF77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PK identifica uma linha. FK guarda a PK da linha relacionada.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A2F76-C6C9-4E59-9AAF-F813D904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03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11060645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28FC7-5469-49CA-AC49-2B1105B9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4F5D6-3797-4B15-815E-7DFE26F4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7D735-6AD3-4B28-814A-569A079F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BC2ED-5AFB-4D8F-89F4-50D696B3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 percorre linhas e calcula expressões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C77F6-351D-486C-8327-FC359107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6858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76D97-6C94-441A-80F0-833FB822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28750"/>
            <a:ext cx="63246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nome, reputacao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1 + 1 AS resultado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'Olá' AS mensagem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89588-7F27-448E-9557-0933DB75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429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E4BCF-5BC5-4338-8411-13B5B840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BF66A-6FC5-41AF-9843-9257EC28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144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DA388-7D3C-45B0-BB32-CF8FD0B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304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 que queremos ver ou calcular.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9901D-91A8-44EF-B1B6-23E2CF8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429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C5A06-6BD0-4D81-9F05-4C8BB27C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A8A54-8B10-4C27-84C1-ED528926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D09D4-6893-4549-8166-6441AC90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04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tabela cujas linhas são percorridas.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D45C7-96C7-47D9-AD05-590F7BFC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02BDF-7430-4268-8B73-3543C7B5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 agregação, cada linha da tabela origina normalmente uma linha no resultado.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B132D-850A-4174-A967-E458F4D7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04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20191630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953AD-F0BB-4C98-A9A7-52645B68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ADA97-B7EF-42C8-A164-A14270D1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B0515-A838-4B61-A325-BD2C1E39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F9775-34C6-4738-A385-16F1DD24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DISTINCT e funções de agregação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A3D9A-C259-4484-8730-80978A95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6667500" cy="4143375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D72DC-7F23-4695-8C2D-91EFE90F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61341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DISTINCT estado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COUNT(*) AS total,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   SUM(reputacao) AS soma,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   AVG(reputacao) AS media,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   MIN(reputacao), MAX(reputacao)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64DBE-8287-45A3-8601-EB8297D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714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0D2E8-B8D3-4228-96FA-F00F7310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5A45A-B0D9-46CA-99BD-3079823F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144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DISTINCT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FF026-2F1D-43D6-A160-C637FE56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5737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Remove valores repetidos do resultado.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4214C-A324-4D2F-80EA-0CF5E95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1F1E4-7E5E-467C-9DFB-10313F42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1A7B5-1E9F-4ABF-9D52-29E17BEF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Agregação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13BE5-A69D-45B9-AB80-B575E0F1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COUNT, SUM, AVG, MIN e MAX resumem muitas linhas numa única linha.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5A517-B791-4554-A754-21D9FEFB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05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4379797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0C5E8-C7AA-48BA-ACDB-AF19491E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79915-D000-4592-B304-CFAA73B0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DA14-7C67-4292-A8DF-13571D5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82477-8780-4536-8831-AB2E436F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WHERE é uma expressão lógica por linha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D9065-EEE7-4A85-980C-D2C425EC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6572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DE4D8-7F41-4711-9F66-262EB884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60388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nome, estado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estado = 'ativo';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nome, reputacao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estado = 'ativo'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AND reputacao &gt;= 60;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9600A-AAAE-46F7-8B35-03258B2A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38250"/>
            <a:ext cx="3810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CBA41-5609-4EB2-A7A0-8186790A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38250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3406B-697F-4344-AA9C-77D531D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71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=  &lt;&gt;  &gt;  &gt;=  &lt;  &lt;=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7927E-22E9-4448-A12F-7AF2CC3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Comparações que produzem verdadeiro ou falso.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1F883-2D71-4D3C-8A6D-49812432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3810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EE759-38C1-47C3-9D34-7F9811FA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DC0AA-F3A8-4456-8FC2-C26BB53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527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AND · OR · 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F099F-3531-4855-AFBC-FBFDE32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95625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Permitem combinar ou negar condições.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0D731-EA22-49F6-BF8E-D997AE8E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3810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0E879-56C5-478F-82D3-71419919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5FF4C-E29B-4825-BFFB-AFCE8ED3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33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AD482-9A0D-460C-B651-E9E0C6F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Testa-se com IS NULL ou IS NOT NULL.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CFAA6-7B43-4EC0-8402-9B30CF48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06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10060916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8845A-D986-4025-A737-64051CB2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0F727-EB8C-4974-AD59-1906916C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D960A-1BCD-49E4-899F-439047D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8ADF0-F189-4730-BC54-E1F310F1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ORDER BY organiza o resultado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E774C-FAEA-452F-A445-65C946D8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CB70A-1D83-45E1-BFBE-405E3C4E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53721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nome, reputacao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ORDER BY reputacao DESC,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     nome ASC;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2D9CF-7EBE-426B-83BB-26B851A1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191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4F3C9-2DB5-4FFC-8E07-CC03ECB4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19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0B6BD-77D4-4C90-A0B8-E2AE55EA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8112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ABDEC-1D30-46FA-83CC-136BABDE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43075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Carla Sousa · 91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0C4BE-6ACF-4509-93D4-A9AA354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085975"/>
            <a:ext cx="4171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F7F6F-BF8B-4EE0-B288-B09C91CD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Ana Costa · 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B6534-A8F0-4C24-BBD2-14257289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86025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Fábio Alves · 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0DFF3-1B22-4D84-9633-CE67F8DF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28925"/>
            <a:ext cx="4171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DED18-C3B4-4DBF-920C-C431EAF0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Bruno Lima · 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5FB23-0BC3-4B8B-97F4-5EE1516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28975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Eva Rocha · 57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1FA1F-A4B8-4640-BA27-01E10A4C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71875"/>
            <a:ext cx="4171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59A79-1B62-411A-A817-4E246A28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Diogo Martins · 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003BF-A8CC-4ADA-84AD-9A74BB6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7E730-7603-43C3-B1B0-D691A53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DESC ordena do maior para o menor. ASC resolve o empate pelo nome.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7C5CB-3532-48D5-8D8E-CC6F101B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07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6174041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BF49E2-8C60-4891-B29C-2D1576C1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16056-AA33-4DFE-A262-C0090ACB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E4831-8210-47A3-BADB-6A462AF8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FBF2-3EDA-40F4-9E16-060B774E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BY cria grupos conceptuais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84477-5956-4DD4-962A-B9CB7F54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7B30E-4EF2-4177-8C7E-A76C3D34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342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3D5D9-79D3-497B-84E9-35E953A4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LINHAS ORIGINAIS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A7AB1-4C1F-44B9-8395-7CCFB94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Ana · ativo · 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E7F3C-7B11-41B1-932C-E06D70E7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85975"/>
            <a:ext cx="3409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107AA-EB09-4E11-A2D5-97EF0E2A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Bruno · ativo · 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2EB59-B6CB-42F2-ADFE-B0BB174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Carla · inativo · 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8C8E3-F37B-409E-89E4-658D5BFE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28925"/>
            <a:ext cx="3409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D2A4B-61B1-423F-A44E-6262652C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Diogo · ativo · 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437F8-3812-4956-9130-3BA3F5E8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Eva · ativo · 57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D5D91-597E-45D7-A581-E19EA80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71875"/>
            <a:ext cx="3409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3E955-501A-47F1-BA22-265921E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Fábio · ativo · 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AC733-44A1-46B7-ABB0-54BA8A5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67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────▶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880F1-1D2F-4D8F-8E3D-864E075E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619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51E95-D6BD-4F9B-8761-4109FEA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619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5B86D-61DA-4880-9D5D-74BAABD6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76375"/>
            <a:ext cx="592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GRUPOS CONCEPTUAIS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0E49A-804D-4600-B51E-D7F5E558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38325"/>
            <a:ext cx="592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ativo · {Ana, Bruno, Diogo, Eva, Fábio}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CC4E4-31F4-400E-A011-477F5DED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81225"/>
            <a:ext cx="6172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F9B6A-41B5-439C-BC8E-351591A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9800"/>
            <a:ext cx="592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inativo · {Carla}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33BF8-97BB-4628-8A91-6A9D55BB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1960C-FC12-43AD-83E6-557E1CB7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Cada grupo funciona como uma caixa de linhas sobre a qual COUNT ou AVG pode trabalhar.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33D38-CD56-435C-9B04-52028E34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08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13288718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1D719-C3F9-4512-8E18-A908A0EE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4E3C3-2990-4466-9329-0FBAE1CE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8617A-161F-4E1D-AC2E-82697FCD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6C456-5017-4E52-80E5-C31A3CC0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BY, a regra do SELECT e HAVING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18635-B539-4AD4-BE1C-DB87463B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68580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74ED1-12B8-4551-82ED-D67032E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63246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estado, COUNT(*) AS total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GROUP BY estado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HAVING COUNT(*) &gt; 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-- ERRADO: que nome representa o grupo?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estado, nome, COUNT(*)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GROUP BY estado;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08913-03C2-49F4-91B9-BA82E071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38250"/>
            <a:ext cx="3810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21567-BD1D-4AA0-9314-3022FDEF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3825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B8ACE-CC7C-4A3E-91F9-4C5DC6BE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71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Regra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B7584-0280-40B6-93C9-338AB06D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42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Os campos simples do SELECT devem identificar o grupo e, portanto, constar no GROUP BY.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7821D-4975-4C54-B947-B7B98A91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810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FD4F7-9EAA-4A2A-97AF-BFE7DD70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01442-9173-429D-8C5D-5CA3B083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289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HAVING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75C39-DA8F-40B4-8C0F-E2E1176A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71875"/>
            <a:ext cx="342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Funciona como o WHERE da tabela conceptual de grupos.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9ABB1-CA83-4082-9EB0-1B7C288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09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6276612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2C3BD-F693-472C-B9D7-D9CFCC4C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A157A-8A29-4774-BC4D-39E63BFF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0C9FE-458F-460B-843D-0D37F535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7220C-1558-4714-9C78-B9B0BE4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vírgula cria um produto cartesiano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1AA21-98D2-4E02-9CB7-893A97A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381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A10F5-1817-44D0-943B-C9BE47C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*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utilizador, pais;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D42D6-A718-4F1E-B22D-54B5E2F4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095375"/>
            <a:ext cx="5905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82535-4ED5-444E-9478-CBA1DEBC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095375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35CF2-9AC6-4C91-9960-75167CDD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4300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18 COMBINAÇÕES, EXCERTO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C4092-470B-4F6C-9F84-368B9174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049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Ana · país 1  | Portugal · id 1  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818DD-A0EA-4C1E-88D7-CE25952E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847850"/>
            <a:ext cx="5886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198B6-D5E6-4641-BA5E-0675625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76425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Ana · país 1  | Brasil · id 2  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6A4D8-93FC-43CD-80B4-6FD76CC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Ana · país 1  | Espanha · id 3  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5973D-CBCC-4374-A8E3-42AFC329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90800"/>
            <a:ext cx="5886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6E51A-4E4B-4861-B64B-E8C3F69C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19375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Bruno · país 2 | Portugal · id 1 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681F2-9C3F-4F1B-9D19-876B75B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908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Bruno · país 2 | Brasil · id 2 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7AF3C-A5D8-46FF-9ACE-DF68613A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5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6CA14-34EC-4308-A94A-10982475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024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 6 utilizadores e 3 países surgem 6 × 3 linhas. Só fazem sentido as linhas em que FK = PK.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6CE4B-1E0B-4DAE-B464-4C761875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10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325895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2591B-94ED-450E-811C-178918E4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8B0A0-40D4-4320-B75B-13713A6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67FC6-1D43-41B1-8ADB-EEE54B30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55A3F-2D63-4320-A68D-9BCAD23E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 igualdade no WHERE para JOIN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659E2-FBE8-4C82-BE93-1A238FB6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69532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70829-DEF0-4782-88A8-A6A799F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85875"/>
            <a:ext cx="64198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-- Produto cartesiano filtrado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u.nome, p.nome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u, pais AS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u.pais_id = p.pais_id;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-- A mesma associação, mais clara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u.nome, p.nome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JOIN pais AS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ON u.pais_id = p.pais_id;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F95E0-62C1-472C-9828-FDB5E35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81125"/>
            <a:ext cx="3619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4C52C-9E13-494B-9B2D-8AC2E81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8112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BEB7B-58A6-4E90-A23B-FA71551A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144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165C2-1E49-4A33-AF85-C3FDBCDE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57375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Guarda a condição que relaciona tabelas.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89F79-FD3B-49FE-8B8C-0B400AC2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3619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A2CA5-3CB1-4112-A52D-CEAF09C8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C1D2D-F81A-4580-83EB-A7905B8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766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56320-8DC4-4281-A3BA-A6F54817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19500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Fica disponível para filtrar as linhas já relacionadas.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9955C-569B-430B-B8AE-90513D93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11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78615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EA2A9-3D3B-485D-86BC-42DB51C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5D293-EA4F-4D34-B90E-1B701411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9C3E3-22C6-4218-A1EA-D56011EE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FA8B0-AD11-4EB6-954F-775B1EF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LEFT JOIN preserva a tabela da esquerda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1BD5C-E750-4BFF-B092-4B0D845E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5905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93A8-41F8-4912-B8C2-5CEFCE8D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5372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u.nome, p.nome AS pais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LEFT JOIN pais AS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ON p.pais_id = u.pais_id;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1C568-2EE8-4F41-8587-F9A1D154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90625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8C4A5-798F-45C2-883B-F754EEB6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9062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B6E8D-5F33-4F70-B6E0-7DECEDF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239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Parte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3E52B-4EF6-462D-A8B8-33E8357B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66875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Linhas encontradas pelo INNER JOIN.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EC1FB-0A8A-4358-AB6A-103A20B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4572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3F0FF-7870-4420-8982-D4C997F1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08421-A449-45E2-B4AE-8E08F6BB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337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Parte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E11C7-5035-44DC-B904-777D1E1B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76625"/>
            <a:ext cx="4191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Linhas da esquerda sem correspondência; campos da direita ficam NULL.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9B565-DDC7-4424-8004-7B387F69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8A11D-EA48-4728-95BA-828AE0C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 invertermos a ordem, RIGHT JOIN pode preservar os utilizadores. Se FK for NOT NULL e válida, INNER e LEFT produzem o mesmo resultado.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6DC70-976E-4ECE-8B05-7FF302AB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12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450685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E77F5-31BE-4CED-B946-CB2F3AE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CA0F9-1A9C-433D-A94F-3267BBC0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AF6C1-4769-4249-970C-47FC692C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F31BF-187A-48CC-88AB-2F0CAEAD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Subconsultas: um for dentro de outro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51C54-C1F3-49FC-B5FA-8A2A8629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5715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9F6A6-E2CB-48D8-A4D1-3FB9B85F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28750"/>
            <a:ext cx="5181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FOR cada u IN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FOR cada p IN post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IF p.utilizador_id = u.utilizador_id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   encontrou correspondência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3317D-527B-4B5B-8D34-3DFE87E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90625"/>
            <a:ext cx="4762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21FD4-66BB-4217-A215-08F42229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9062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7BF3E-3A59-4AAF-9BE6-5ACC9913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239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Ciclo exterior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EB9C4-6CE8-4CF8-B3C8-F680FE4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66875"/>
            <a:ext cx="438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Escolhe uma linha de utilizador.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BBDF1-2CEA-4CBE-AE19-6E03CD3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74D17-2987-41D6-AA34-BB09BD2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AFFFA-814B-438D-AEEF-5A9FF8DE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Ciclo interior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165A1-8AA3-4318-9A25-C10BC72C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4381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Percorre post e usa a linha exterior através de u.utilizador_id.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90876-530B-4B94-88B5-9DA84B68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95B09-39FE-4BE1-9D52-AB4DD154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condição p.utilizador_id = u.utilizador_id liga os dois ciclos.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FD9DF-6024-4ABF-B7D9-0EF051D4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13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17705865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5DE84-4C88-48F6-B7FE-45A11F6D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FB39D-0EF2-4D92-95A0-B2F42D17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AB167-8E0E-4381-AE7E-1E18BC44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697CE-F2EE-4400-94FC-7575E8A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 e EXISTS podem responder ao mesmo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ECDAC-DA2C-4AFD-AFA0-46DA90C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68EBC-9682-4DC6-BA65-D932EDBD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81125"/>
            <a:ext cx="63246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-- Lista de autores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u.utilizador_id IN (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SELECT p.utilizador_id FROM post AS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-- Procura correlacionada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EXISTS (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SELECT 1 FROM post AS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WHERE p.utilizador_id = u.utilizador_id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4272D-17F6-42A8-B638-801C34A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524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F7B44-F6D6-4296-B617-81D0D58B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61160-D2B0-41A9-A4C6-84E56C9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14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328A8-96EB-4049-958B-56E797C5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573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Compara um valor com uma lista.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9CE79-4EF5-4A7D-880F-A6E26904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3524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F8B4F-602B-4E29-BC68-78272A7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0C99E-26C0-42A4-9D17-4D203639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EXISTS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55351-EB0B-4BAE-869C-FAD176A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Confirma que existe uma linha que satisfaz as condições relacionadas.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857E6-31BF-4E59-9382-2FD21561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CDF1D-DCDB-48FF-B270-4884D44F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Ambas devolvem Ana, Bruno, Carla e Fábio.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B219E-565D-45B4-B927-644C993D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14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9345243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250D0-8B88-4D7B-847B-0964BD9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5F4D9-8D7D-4F82-BD12-316BC56F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291A8-185A-4F02-A9A8-EAF770E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23A96-22E3-451D-930D-9E37C39B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EXISTS liga vários campos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7E108-2049-4BCE-99EA-9CC73452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6953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12B05-4F0D-4E3D-94CC-FCD0A76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85875"/>
            <a:ext cx="64198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EXISTS (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SELECT 1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FROM post AS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WHERE p.utilizador_id = u.utilizador_id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AND YEAR(p.publicado_em) =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    YEAR(u.data_registo)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B5BBF-0E5B-40FD-80A9-04156BC2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619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162EA-1818-48E3-AC27-86239515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06FF0-F351-4808-BE91-C7241652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144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Dois vínculos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64899-D029-410A-8003-7B7160DD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57375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linha interior coincide com o utilizador exterior e com o seu ano de registo.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3B2A2-E927-4CB5-9A3E-A382C7DA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3619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B8138-9E3A-4B03-A606-84258748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4E00A-55F2-4AAE-BCA5-65DDE54E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99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 simples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A17A9-F2FB-46FF-A045-CBB581C6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528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Dá erro se uma expressão for comparada com duas colunas.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54FD6-5CDC-41CD-8A56-311A3E55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15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14369193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AED33-03D9-4ADB-8B25-75706203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412D2-CB11-4C38-B5EF-606169D7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67BD9-809A-4EDD-A162-65840ED5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75E3B-723F-4A3C-A5B2-3402CB6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própria tabela precisa de dois sinónimos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480A6-5EFF-4E49-98E5-104F8153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7048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063DF-0032-4A14-BB64-ABA63F92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65151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u1.nome, u1.reputacao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u1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EXISTS (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SELECT 1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FROM utilizador AS u2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WHERE u2.pais_id = u1.pais_id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 AND u2.reputacao &gt; u1.reputacao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FE869-1B3A-4C4E-8867-C94A71AB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429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CB3B9-1170-4533-A28A-7DBF85F9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3DBCF-6564-40F3-B019-11FDC05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9623A-81BE-4E25-AA91-F9E199F6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04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 tratado pelo ciclo exterior.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87048-8DE5-4840-935B-A0C3DC9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3CF1D-91BE-4402-95A7-F287F12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262C2-AA62-46DA-B6A7-8AE68175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384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B85E6-57B7-4A9F-B413-31F6F615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81375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Outro utilizador, percorrido pelo ciclo interior.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0D6AC-6DFB-4FEA-9D09-622E407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F5435-87C5-4D11-8F5D-C41A3176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Resultado: Ana tem Carla acima; Bruno tem Fábio acima no mesmo país.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F44B5-EC97-4001-A085-C194008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16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20087186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225D5-22FF-464A-8C3D-99A0D5DD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0CA63-93BC-43EC-91E2-664F7E9E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BA9E3-845C-46D2-99BF-6A1B6F49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DB40-D27E-45F8-BBFF-1BA48B6D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UNION acrescenta linhas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E7A50-59BC-4D08-AD74-7AF6E322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072C7-2005-41D7-BC65-8E2FF5F1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71625"/>
            <a:ext cx="5657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nome, 'utilizador' AS origem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UNION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nome, 'país' AS origem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pais;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D1CF1-80E1-48E2-B82C-70AE69C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238250"/>
            <a:ext cx="4191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2BC8C-6922-40A0-B628-2BAADCAD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2382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7F4CA-941F-4323-B1C4-412E86A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3716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83B07-6360-424C-8938-9A812165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714500"/>
            <a:ext cx="381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Elimina duplicados.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2639F-DA49-43E5-80A5-D7C3D864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00375"/>
            <a:ext cx="4191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CAA4F-A5D7-45D4-85DE-A60BC550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00375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F8DAE-A7AE-4650-8E5B-BF6F2752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337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UNION 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739C7-CED0-4FF7-BA6B-3843A37E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6625"/>
            <a:ext cx="381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Mantém todas as linhas e evita o trabalho de eliminar duplicados.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D6744-C90D-4423-96E8-2D2C3808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9AAB9-E9C5-4219-82D4-747F1612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JOIN acrescenta colunas relacionadas. UNION coloca resultados compatíveis uns por baixo dos outros.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442C1-8BAD-4392-B66C-98EEAC80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17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20566332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5548D-DFF3-4055-AB3C-B345DFF0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E869E-EC58-498F-A389-EAC6D91F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3E5CA-FC9E-40E5-A7BA-FB58768E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BEF8B-AAAC-4C4E-86C2-C5ACA1EE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LEFT JOIN reconstruído com UNION 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F0FA0-1B8A-4C90-AEE0-C32C42AC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7334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ABEC8-D7DF-47DC-B413-DF964F14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90625"/>
            <a:ext cx="68008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u.nome, p.nome AS pais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u, pais AS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u.pais_id = p.pais_id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UNION ALL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u.nome, NULL AS pais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u.pais_id IS NULL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 OR u.pais_id NOT IN (SELECT pais_id FROM pais);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B0E62-BBAD-4805-AF7C-1B2E61EB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90625"/>
            <a:ext cx="3429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8EE75-13F4-42FF-A93B-2E9F0132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90625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86256-9D24-4900-B331-AEE6F112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239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Primeira consulta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EEEBF-69DC-4EFE-9402-9CCE2EE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666875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Produto cartesiano filtrado por FK = PK.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4B82B-6407-452B-9C19-79E5541E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4800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7673F-6BA4-4D91-BD6A-0E09078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48000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37A6A-B1C2-49B8-A9DA-FCF53440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81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Segunda consulta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7AB65-9F7D-4A46-94EC-749B5745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425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Linhas não associadas. IS NULL é necessário porque NULL NOT IN não produz verdadeiro.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40801-6F75-45CE-90CE-5352D5AE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18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212832282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1C0DD-579C-4BD6-B6F0-D6AE4D51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F48E7-7783-46BD-9CB5-68DED8E8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CB00B-6758-4B53-8C3E-DF775E7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DESDE O PRINCÍPIO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E5F30-B986-4D6C-8DF5-AB76D14C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Mapa de uma consulta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23F1-5B66-4AE9-B3C7-94458B56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90625"/>
            <a:ext cx="9906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A914A-A70C-4B96-AFCF-A76B141E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81125"/>
            <a:ext cx="9372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campos ou cálculos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tabelas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JOIN tabela ON ligação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condição por linha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GROUP BY campos do grupo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HAVING condição por grupo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ORDER BY critérios;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8A454-BB32-4630-AD0F-1BBA7D1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3FB1E-00AE-4991-8DC3-B5A795C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Construa a consulta por etapas e observe o resultado de cada etapa.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E9AFD-08A2-4AD7-8918-27654456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19  ·  Pedro Ramos</a:t>
            </a:r>
          </a:p>
        </p:txBody>
      </p:sp>
    </p:spTree>
    <p:extLst>
      <p:ext uri="{BB962C8B-B14F-4D97-AF65-F5344CB8AC3E}">
        <p14:creationId xmlns:p14="http://schemas.microsoft.com/office/powerpoint/2010/main" val="755786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2026-09-09T20:28:26.7350000Z</dcterms:created>
  <dcterms:modified xsi:type="dcterms:W3CDTF">2026-09-09T20:28:26.7350000Z</dcterms:modified>
</coreProperties>
</file>