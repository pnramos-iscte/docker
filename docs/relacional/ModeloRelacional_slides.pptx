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e745f6eb1340b8" /><Relationship Type="http://schemas.openxmlformats.org/officeDocument/2006/relationships/extended-properties" Target="/docProps/app.xml" Id="R455b898211d04f22" /><Relationship Type="http://schemas.openxmlformats.org/officeDocument/2006/relationships/officeDocument" Target="/ppt/presentation.xml" Id="R4a3b3f31872b44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62c5ebd7974b4e"/>
  </p:sldMasterIdLst>
  <p:notesMasterIdLst>
    <p:notesMasterId xmlns:r="http://schemas.openxmlformats.org/officeDocument/2006/relationships" r:id="R3ac8fa9d368840ca"/>
  </p:notesMasterIdLst>
  <p:sldIdLst>
    <p:sldId xmlns:r="http://schemas.openxmlformats.org/officeDocument/2006/relationships" id="256" r:id="R81f84b0668444255"/>
    <p:sldId xmlns:r="http://schemas.openxmlformats.org/officeDocument/2006/relationships" id="257" r:id="R36913ded469f4912"/>
    <p:sldId xmlns:r="http://schemas.openxmlformats.org/officeDocument/2006/relationships" id="258" r:id="R556681c1cf3b47ff"/>
    <p:sldId xmlns:r="http://schemas.openxmlformats.org/officeDocument/2006/relationships" id="259" r:id="R09a1f73f7cb04020"/>
    <p:sldId xmlns:r="http://schemas.openxmlformats.org/officeDocument/2006/relationships" id="260" r:id="Rbe7bd90f81ed424e"/>
    <p:sldId xmlns:r="http://schemas.openxmlformats.org/officeDocument/2006/relationships" id="261" r:id="Ra02e2e9fc1434972"/>
    <p:sldId xmlns:r="http://schemas.openxmlformats.org/officeDocument/2006/relationships" id="262" r:id="R6bae5771ffff4113"/>
    <p:sldId xmlns:r="http://schemas.openxmlformats.org/officeDocument/2006/relationships" id="263" r:id="R79666d90d7e144a9"/>
    <p:sldId xmlns:r="http://schemas.openxmlformats.org/officeDocument/2006/relationships" id="264" r:id="Re9a242f64644427c"/>
    <p:sldId xmlns:r="http://schemas.openxmlformats.org/officeDocument/2006/relationships" id="265" r:id="Rc08163bcff024fd8"/>
    <p:sldId xmlns:r="http://schemas.openxmlformats.org/officeDocument/2006/relationships" id="266" r:id="R848c5f2d48b04dbe"/>
    <p:sldId xmlns:r="http://schemas.openxmlformats.org/officeDocument/2006/relationships" id="267" r:id="Rd54c887e59204911"/>
    <p:sldId xmlns:r="http://schemas.openxmlformats.org/officeDocument/2006/relationships" id="268" r:id="Rad5fad4a2b8147f6"/>
    <p:sldId xmlns:r="http://schemas.openxmlformats.org/officeDocument/2006/relationships" id="269" r:id="Rb5a20324cb4f47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a54f53cf0f4bca" /><Relationship Type="http://schemas.openxmlformats.org/officeDocument/2006/relationships/slideMaster" Target="/ppt/slideMasters/slideMaster1.xml" Id="Rd562c5ebd7974b4e" /><Relationship Type="http://schemas.openxmlformats.org/officeDocument/2006/relationships/notesMaster" Target="/ppt/notesMasters/notesMaster1.xml" Id="R3ac8fa9d368840ca" /><Relationship Type="http://schemas.openxmlformats.org/officeDocument/2006/relationships/presProps" Target="/ppt/presProps.xml" Id="R14988bfa2d774833" /><Relationship Type="http://schemas.openxmlformats.org/officeDocument/2006/relationships/tableStyles" Target="/ppt/tableStyles.xml" Id="R65bab45b99ad411d" /><Relationship Type="http://schemas.openxmlformats.org/officeDocument/2006/relationships/slide" Target="/ppt/slides/slide1.xml" Id="R81f84b0668444255" /><Relationship Type="http://schemas.openxmlformats.org/officeDocument/2006/relationships/slide" Target="/ppt/slides/slide2.xml" Id="R36913ded469f4912" /><Relationship Type="http://schemas.openxmlformats.org/officeDocument/2006/relationships/slide" Target="/ppt/slides/slide3.xml" Id="R556681c1cf3b47ff" /><Relationship Type="http://schemas.openxmlformats.org/officeDocument/2006/relationships/slide" Target="/ppt/slides/slide4.xml" Id="R09a1f73f7cb04020" /><Relationship Type="http://schemas.openxmlformats.org/officeDocument/2006/relationships/slide" Target="/ppt/slides/slide5.xml" Id="Rbe7bd90f81ed424e" /><Relationship Type="http://schemas.openxmlformats.org/officeDocument/2006/relationships/slide" Target="/ppt/slides/slide6.xml" Id="Ra02e2e9fc1434972" /><Relationship Type="http://schemas.openxmlformats.org/officeDocument/2006/relationships/slide" Target="/ppt/slides/slide7.xml" Id="R6bae5771ffff4113" /><Relationship Type="http://schemas.openxmlformats.org/officeDocument/2006/relationships/slide" Target="/ppt/slides/slide8.xml" Id="R79666d90d7e144a9" /><Relationship Type="http://schemas.openxmlformats.org/officeDocument/2006/relationships/slide" Target="/ppt/slides/slide9.xml" Id="Re9a242f64644427c" /><Relationship Type="http://schemas.openxmlformats.org/officeDocument/2006/relationships/slide" Target="/ppt/slides/slide10.xml" Id="Rc08163bcff024fd8" /><Relationship Type="http://schemas.openxmlformats.org/officeDocument/2006/relationships/slide" Target="/ppt/slides/slide11.xml" Id="R848c5f2d48b04dbe" /><Relationship Type="http://schemas.openxmlformats.org/officeDocument/2006/relationships/slide" Target="/ppt/slides/slide12.xml" Id="Rd54c887e59204911" /><Relationship Type="http://schemas.openxmlformats.org/officeDocument/2006/relationships/slide" Target="/ppt/slides/slide13.xml" Id="Rad5fad4a2b8147f6" /><Relationship Type="http://schemas.openxmlformats.org/officeDocument/2006/relationships/slide" Target="/ppt/slides/slide14.xml" Id="Rb5a20324cb4f47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504135717042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adbe725c6e4ad8" /><Relationship Type="http://schemas.openxmlformats.org/officeDocument/2006/relationships/notesMaster" Target="/ppt/notesMasters/notesMaster1.xml" Id="R34528a0e48a243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5e1e8e15484b72" /><Relationship Type="http://schemas.openxmlformats.org/officeDocument/2006/relationships/notesMaster" Target="/ppt/notesMasters/notesMaster1.xml" Id="R4b1b6ac882c84e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674facf8a74cfa" /><Relationship Type="http://schemas.openxmlformats.org/officeDocument/2006/relationships/notesMaster" Target="/ppt/notesMasters/notesMaster1.xml" Id="R769f7ca326dd45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54381eae004f15" /><Relationship Type="http://schemas.openxmlformats.org/officeDocument/2006/relationships/notesMaster" Target="/ppt/notesMasters/notesMaster1.xml" Id="R24e65dc8c45449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724a1cc73348c2" /><Relationship Type="http://schemas.openxmlformats.org/officeDocument/2006/relationships/notesMaster" Target="/ppt/notesMasters/notesMaster1.xml" Id="Rf5ebf6237d3641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6ed23348064a2a" /><Relationship Type="http://schemas.openxmlformats.org/officeDocument/2006/relationships/notesMaster" Target="/ppt/notesMasters/notesMaster1.xml" Id="R91b2eead7b584f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b3c82dc2e24cfa" /><Relationship Type="http://schemas.openxmlformats.org/officeDocument/2006/relationships/notesMaster" Target="/ppt/notesMasters/notesMaster1.xml" Id="R5d6857656c5249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efc39156ee4311" /><Relationship Type="http://schemas.openxmlformats.org/officeDocument/2006/relationships/notesMaster" Target="/ppt/notesMasters/notesMaster1.xml" Id="Rb06cf9d7377d4b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4d127ea52d496f" /><Relationship Type="http://schemas.openxmlformats.org/officeDocument/2006/relationships/notesMaster" Target="/ppt/notesMasters/notesMaster1.xml" Id="Rb10db34e83a2443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cecf3d8aed74865" /><Relationship Type="http://schemas.openxmlformats.org/officeDocument/2006/relationships/notesMaster" Target="/ppt/notesMasters/notesMaster1.xml" Id="R10ac21b4bdbb42f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3f652fa7e2a4e14" /><Relationship Type="http://schemas.openxmlformats.org/officeDocument/2006/relationships/notesMaster" Target="/ppt/notesMasters/notesMaster1.xml" Id="Rb18eeb7d95d3497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4d790bb86ad4876" /><Relationship Type="http://schemas.openxmlformats.org/officeDocument/2006/relationships/notesMaster" Target="/ppt/notesMasters/notesMaster1.xml" Id="R5aab951705df4b8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2570aaeb5fe4608" /><Relationship Type="http://schemas.openxmlformats.org/officeDocument/2006/relationships/notesMaster" Target="/ppt/notesMasters/notesMaster1.xml" Id="R9f755b24f5094c7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2e53f9d64c649e7" /><Relationship Type="http://schemas.openxmlformats.org/officeDocument/2006/relationships/notesMaster" Target="/ppt/notesMasters/notesMaster1.xml" Id="Rb199b686e78249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ff8671cb0247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bb01d4cf08462a" /><Relationship Type="http://schemas.openxmlformats.org/officeDocument/2006/relationships/slideLayout" Target="/ppt/slideLayouts/slideLayout1.xml" Id="Rd46b704ce8fc48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6b704ce8fc48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9636bf9c334c13" /><Relationship Type="http://schemas.openxmlformats.org/officeDocument/2006/relationships/notesSlide" Target="/ppt/notesSlides/notesSlide1.xml" Id="Rfff607ac5d564a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47d7c7185248ce" /><Relationship Type="http://schemas.openxmlformats.org/officeDocument/2006/relationships/notesSlide" Target="/ppt/notesSlides/notesSlide2.xml" Id="R76b7e2dbef2545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75957966384b3c" /><Relationship Type="http://schemas.openxmlformats.org/officeDocument/2006/relationships/notesSlide" Target="/ppt/notesSlides/notesSlide3.xml" Id="Rb5d8f08c75074a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d67298464d4a64" /><Relationship Type="http://schemas.openxmlformats.org/officeDocument/2006/relationships/notesSlide" Target="/ppt/notesSlides/notesSlide4.xml" Id="Rb4433e96bf8449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797d1c402b40cd" /><Relationship Type="http://schemas.openxmlformats.org/officeDocument/2006/relationships/notesSlide" Target="/ppt/notesSlides/notesSlide5.xml" Id="R00727209f5b243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bf1bb3a734258" /><Relationship Type="http://schemas.openxmlformats.org/officeDocument/2006/relationships/notesSlide" Target="/ppt/notesSlides/notesSlide6.xml" Id="Rbf25164a12304c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cd1a5a6e24ee3" /><Relationship Type="http://schemas.openxmlformats.org/officeDocument/2006/relationships/notesSlide" Target="/ppt/notesSlides/notesSlide7.xml" Id="Rf9041d98748b4c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89f95e5664a0b" /><Relationship Type="http://schemas.openxmlformats.org/officeDocument/2006/relationships/notesSlide" Target="/ppt/notesSlides/notesSlide8.xml" Id="R63fca0cc4d81402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b70eb87f174b9a" /><Relationship Type="http://schemas.openxmlformats.org/officeDocument/2006/relationships/notesSlide" Target="/ppt/notesSlides/notesSlide9.xml" Id="R1ba0d177f3dd42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2fa8c82be1486b" /><Relationship Type="http://schemas.openxmlformats.org/officeDocument/2006/relationships/notesSlide" Target="/ppt/notesSlides/notesSlide10.xml" Id="Rd1badf075e2049c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e479956a644c7f" /><Relationship Type="http://schemas.openxmlformats.org/officeDocument/2006/relationships/notesSlide" Target="/ppt/notesSlides/notesSlide11.xml" Id="R5b022869ae8b440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fe40391de447b8" /><Relationship Type="http://schemas.openxmlformats.org/officeDocument/2006/relationships/notesSlide" Target="/ppt/notesSlides/notesSlide12.xml" Id="R65e81eff07144a7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bf2a4c0ed34627" /><Relationship Type="http://schemas.openxmlformats.org/officeDocument/2006/relationships/notesSlide" Target="/ppt/notesSlides/notesSlide13.xml" Id="R6e6fbbd3b5b9407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474bef2954230" /><Relationship Type="http://schemas.openxmlformats.org/officeDocument/2006/relationships/notesSlide" Target="/ppt/notesSlides/notesSlide14.xml" Id="R76f38ff682f6482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A321E2-F0A2-45E2-BC0C-5B02508B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7DA8C4-762C-4373-8E12-9EE9AAD1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E40FA1-89D4-4B35-8FA4-5F4C1E9A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8D6D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8D6D5"/>
                </a:solidFill>
                <a:latin typeface="Aptos"/>
                <a:ea typeface="Aptos"/>
                <a:cs typeface="Aptos"/>
              </a:rPr>
              <a:t>BASES DE DADOS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6F9F8E-271A-46DC-AFED-9D7FA278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7239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Modelo</a:t>
            </a:r>
          </a:p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Relacional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BFDC01-B5A8-47C2-B98F-84035D42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7662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4E3E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4E3EB"/>
                </a:solidFill>
                <a:latin typeface="Aptos"/>
                <a:ea typeface="Aptos"/>
                <a:cs typeface="Aptos"/>
              </a:rPr>
              <a:t>Entidades, chaves e integridade referencial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3936F5-4260-48FD-8672-559CFFC0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381125"/>
            <a:ext cx="2619375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0B3939-0D44-478E-A872-FD1CFB03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381125"/>
            <a:ext cx="26193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16F607-4DD1-47D4-A388-B5BBC2CB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428750"/>
            <a:ext cx="2390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UTILIZADOR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1D232B-84E5-4D9E-B70C-C75DE000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743075"/>
            <a:ext cx="26003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728D88-3940-4116-97F3-465E3C2B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771650"/>
            <a:ext cx="2390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101 · Ana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36C117-EA7A-45C6-AEE1-4A264B6F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066925"/>
            <a:ext cx="26003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CA261F-16EC-466F-A1B7-11A1F84A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95500"/>
            <a:ext cx="2390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102 · Beatriz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0BD8E3-176F-4FBA-989A-1C0E3C28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2619375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FE7B08-B1DC-4F4B-8D01-AA91A504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26193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C7FC90-2547-45C7-A5FB-6456A606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62375"/>
            <a:ext cx="2390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6FD691-9AB8-48E7-B100-5BD27661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076700"/>
            <a:ext cx="26003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B38986-72C5-4B55-B707-5450689F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05275"/>
            <a:ext cx="2390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501 · utilizador 101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B9CB1D-3DC8-4FCA-A59A-B3BD482E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400550"/>
            <a:ext cx="26003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240610-9D5E-4BCB-A12A-DD5F2016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429125"/>
            <a:ext cx="2390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502 · utilizador 102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00252B-3333-41A1-A44A-1C6D6158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857500"/>
            <a:ext cx="47625" cy="714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4532E5-1842-47A1-9412-CE243A63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908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B13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B134"/>
                </a:solidFill>
                <a:latin typeface="Aptos"/>
                <a:ea typeface="Aptos"/>
                <a:cs typeface="Aptos"/>
              </a:rPr>
              <a:t>1 → 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53B7D2-5236-4A26-BF9D-447AA2D3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055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Pedro Ramos</a:t>
            </a:r>
          </a:p>
        </p:txBody>
      </p:sp>
    </p:spTree>
    <p:extLst>
      <p:ext uri="{BB962C8B-B14F-4D97-AF65-F5344CB8AC3E}">
        <p14:creationId xmlns:p14="http://schemas.microsoft.com/office/powerpoint/2010/main" val="151050915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70A6D7-1415-4530-880B-A7E443FE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45CBF0-11DE-40C8-B7E3-C0F73CA6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99E217-6F91-4ADB-B303-46AAEAA9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D7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D7D5"/>
                </a:solidFill>
                <a:latin typeface="Aptos"/>
                <a:ea typeface="Aptos"/>
                <a:cs typeface="Aptos"/>
              </a:rPr>
              <a:t>MODELO RELACIONAL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CDE1F9-335A-4F95-86AB-129912F8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Porque se tornou tão popular?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B2841-763D-4344-B0FF-399082CF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5524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2F2693-7ACF-41BA-BFD2-761F5E90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2476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171"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F2B134"/>
                </a:solidFill>
                <a:latin typeface="Aptos"/>
                <a:ea typeface="Aptos"/>
                <a:cs typeface="Aptos"/>
              </a:defRPr>
            </a:pPr>
            <a:r>
              <a:rPr sz="5550" b="1">
                <a:solidFill>
                  <a:srgbClr val="F2B134"/>
                </a:solidFill>
                <a:latin typeface="Aptos"/>
                <a:ea typeface="Aptos"/>
                <a:cs typeface="Aptos"/>
              </a:rPr>
              <a:t>1970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1CBDF9-6D9D-4286-BB19-1B37E7B9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Edgar F. Codd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7F46E9-02D9-4CFC-89B2-ED3667FB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2887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Matemático e investigador da IBM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A24FA4-C72A-4EEC-BA82-B385D96B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0375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Relações, conjuntos e lógica deram ao modelo regras simples, gerais e coerentes. O utilizador passou a indicar o que pretende sem conhecer os caminhos físicos usados para encontrar os dados.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E76307-A0A1-48E0-840E-6ED5676C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38250"/>
            <a:ext cx="2571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5D9D0D-E2BA-42D9-838F-4755FDF9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38250"/>
            <a:ext cx="7620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A242F4-4B17-4240-87FB-BEADCC8D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40970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Fácil de usar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5B5FCA-0F65-4B54-90B3-2E7567A7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90700"/>
            <a:ext cx="21717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Tabelas familiares e consultas declarativas com SQL.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F4C2F5-FF38-4A71-9A15-52028FB0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238250"/>
            <a:ext cx="2571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25BE01-AD7B-4C50-8A5C-EB11E0C3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238250"/>
            <a:ext cx="7620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8842D7-1F27-420C-A54E-5D73AEC1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40970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Coerente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9649CC-BDA3-4B47-AE69-3B8CA937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90700"/>
            <a:ext cx="21717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Chaves, restrições e transações protegem os dados.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798AE3-A0F3-4D26-9C02-ADB73EF0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90875"/>
            <a:ext cx="5429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13C2E0-14F9-40D6-93D9-6C9BDD5A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90875"/>
            <a:ext cx="7620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3D4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6FDD70-9363-4953-BE6A-39869952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62325"/>
            <a:ext cx="502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Um compromisso, não uma solução universal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2BCB64-BF77-4706-A994-CBA8133B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43325"/>
            <a:ext cx="5029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Junções complexas, grande distribuição ou dados muito irregulares podem favorecer outros modelos. Relacional não significa necessariamente ineficiente.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0D9BEA-3112-41A6-94ED-2F1CE874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158045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43165FC-2A57-4840-904D-47E59573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1644F6-4001-4D8F-8F9E-73D0E1A7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7CD310-F158-4D44-850C-0BDEE5D1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D7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D7D5"/>
                </a:solidFill>
                <a:latin typeface="Aptos"/>
                <a:ea typeface="Aptos"/>
                <a:cs typeface="Aptos"/>
              </a:rPr>
              <a:t>POPULARIDADE · DB-ENGINES · SETEMBRO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4AD32E-7E3A-4DC2-95D5-E3AF7804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 peso atual das tecnologias relacionais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75748-6BFE-4444-8E88-5F19BCFA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5524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D18A39-2807-49E9-ADEB-0E622FB7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43000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782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8 dos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4ADB6A-9F89-4CF7-9213-70B39DD4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57375"/>
            <a:ext cx="4191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sistemas mais populares suportam o modelo relacional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A38523-EF5A-4CA4-BE1D-C30C135D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0477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07CBEB-0391-4D7C-9C59-DAFEAAA8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0477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Oracle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F76F9C-EEC8-47DD-B6BB-270035A1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095375"/>
            <a:ext cx="390525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8E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7DA592-D0FA-43C2-9CAB-A14A0E6E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095375"/>
            <a:ext cx="390525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D7D31F-99A8-4F42-93AF-24922B91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4954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2E3273-416D-4E12-ABCF-25201C5B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49542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MySQL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B89244-46E6-40BB-994A-52468C2A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43050"/>
            <a:ext cx="390525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8E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EF3480-F2E3-4506-873A-DB7EE78B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43050"/>
            <a:ext cx="2928938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F11357-7C33-4D62-B15D-52823503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43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30A169-AC4F-45A9-8A5A-1BBF6A61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94310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SQL Server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19BFDE-B27E-4559-9D66-3201DCBF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90725"/>
            <a:ext cx="390525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8E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A44550-3FC3-485A-947D-D9A10BEA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90725"/>
            <a:ext cx="242125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17183F-A0A7-4801-9B01-313D0AEF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9077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C66AA3-7D98-4DC5-BCB9-F12AE680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3907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364C07-EA78-4884-A6CC-051EE52B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8400"/>
            <a:ext cx="390525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8EC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22BCBC-7675-4121-A0BB-226ABAC3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8400"/>
            <a:ext cx="2382203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C24EA4-8CC0-4CFC-9203-EA2F6727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74A7A2-A2D9-4DA1-B9A1-CC4F6FC6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8384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MongoDB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788EB7-BB0C-4D10-8E42-B4D72FF9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86075"/>
            <a:ext cx="390525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8EC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B1D895-D08A-422D-B1E1-440518CD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86075"/>
            <a:ext cx="132778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AB6B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C87854-B6FB-4D9C-BE4D-C6E220FB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861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1C7255-415B-4B7C-A696-58C22130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28612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Snowflake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49F9C1-18C0-4098-B309-81EF9DF8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33750"/>
            <a:ext cx="390525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8EC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883656-67A7-4799-A2B7-B19DDFB0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33750"/>
            <a:ext cx="741998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3FCCDF-B778-4B85-B6F9-C012EB3F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33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9EF371-A467-4389-8075-758F82F0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73380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Databricks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E93BCB-2262-4FBD-8D20-75A1F117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81425"/>
            <a:ext cx="390525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8EC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03F2D8-EC2C-4F26-B06A-52F21EE5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81425"/>
            <a:ext cx="585788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0BFDFD-C3B1-4590-A3C9-116692D4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18147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FD93E8-FDC8-490A-9A60-72B84D88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1814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Redis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F7FB5F7-6593-406F-BA0D-CEECFEA0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29100"/>
            <a:ext cx="390525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8EC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62CD27-3C16-4B04-A862-2BDD8367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29100"/>
            <a:ext cx="54673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AB6BF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6C4887D-D044-4B20-9F16-8145550A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629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8FE587D-9E21-4B68-97CD-1526E9AC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6291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IBM Db2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1F00ED0-4B2E-4B07-9F22-340AB1C7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76775"/>
            <a:ext cx="390525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8EC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2C47D8A-F328-4F84-8649-3E9954BB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76775"/>
            <a:ext cx="39052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6230390-7791-468A-B98F-7E8A358D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0768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05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88B74EA-B045-45A7-BFDB-6594F443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07682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SQLite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F96E338-68DA-4A48-9B5B-EBE1CCA6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124450"/>
            <a:ext cx="390525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8EC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DF97849-F285-4509-B799-10817E02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124450"/>
            <a:ext cx="351473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8F0B42A-A3E8-442A-97F6-3738B674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102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Índice de popularidade; não representa quota de mercado. Alguns sistemas são multimodelo.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0CCE327-DCE4-437C-8260-29654D47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198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Fonte: DB-Engines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4051A81-A2B5-4F26-AC85-FF81B205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0515562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6FD606-A273-4C12-8D17-9D2C6FFD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19FDA5-81A0-4E0E-BD57-57839B5B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5E165B-6C9C-4451-9C86-ACBAB05C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D7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D7D5"/>
                </a:solidFill>
                <a:latin typeface="Aptos"/>
                <a:ea typeface="Aptos"/>
                <a:cs typeface="Aptos"/>
              </a:rPr>
              <a:t>MODELO RELACIONAL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D7A634-174B-4395-9EEA-073B750A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Uma tabela representa uma entidade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A379FB-E410-4976-8261-501E43DA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5524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C5CBE4-C385-464A-B1BC-89378424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4953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61EC1E-5AF3-45D5-B9FA-EADBDBD9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4953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19DCA0-B5A4-440F-AE78-ABFC578E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476375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UTILIZADOR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FDB402-1455-4F2F-A28D-9D6EFC62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19275"/>
            <a:ext cx="4724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101  |  Ana Costa  |  Portugal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0554C9-9913-4BF0-802D-90A8BC3C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43125"/>
            <a:ext cx="4724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102  |  Beatriz Lima  |  Brasil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6DCD29-0D63-42F4-9D69-66A60328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66975"/>
            <a:ext cx="4724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103  |  Carlos Pinto  |  Portugal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590372-0ADD-49D3-A980-C479C769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38250"/>
            <a:ext cx="4000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B94E6B-EC4C-4578-A297-61A4E4B8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38250"/>
            <a:ext cx="76200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2C823D-AAB5-4536-81DD-527C0125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3600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Tabela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9C8B51-D450-4135-ABE2-45CD722F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0700"/>
            <a:ext cx="3600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Representa um tipo de entidade.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54A6C0-A4BB-4A6C-BE0B-1DDE8B99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4000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67435C-17BD-4D8B-89AB-DB81EBB5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76200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EF56ED-D81B-44C3-83BE-105F10A8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47950"/>
            <a:ext cx="3600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Linha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B5DC7A-EBF0-411B-960C-B8E95FCA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28950"/>
            <a:ext cx="3600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Representa uma ocorrência concreta.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CD4E8F-7A88-4857-804D-70E0E4EE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4000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149327-8666-44DF-9DEC-FC041937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76200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9B1996-6ACC-438A-B643-F3E8DE55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86200"/>
            <a:ext cx="3600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Coluna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99B48E-8F72-4C42-BDD3-ED2F2619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67200"/>
            <a:ext cx="3600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Representa uma propriedade comum.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921456-D0D1-4148-800E-42F3E951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Todas as linhas têm a mesma estrutura, mas contêm valores diferentes.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A40C2D-A27B-41D7-A531-322993A2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2110890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B1D470-4C7C-47F8-AB88-1CD4A29A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259F7F-3F98-42EF-8DEA-25D3F72C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DA2DC-90BC-426C-A190-F79D4E02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D7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D7D5"/>
                </a:solidFill>
                <a:latin typeface="Aptos"/>
                <a:ea typeface="Aptos"/>
                <a:cs typeface="Aptos"/>
              </a:rPr>
              <a:t>MODELO RELACIONAL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88D0BD-41EB-44E0-B0C9-B15CA3FE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Cada coluna tem um domínio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803F3C-7B2D-4D0E-B70D-89B75906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5524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559318-1E23-46F8-AFDA-5B6A48DC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333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E1F43A-BC3D-46A0-AA14-851F4A5A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76200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750693-EDBF-4C70-9F07-03DF3C56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09700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Tipo de dados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AFB4B6-8D81-4598-AE2F-7DF12506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2933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Número, texto, data, valor lógico ou lista reduzida de valores predefinidos.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F39132-68DE-4C10-8233-2D3DC226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238250"/>
            <a:ext cx="333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A3F1A3-92FF-4AB2-8C9F-7F0C2DE0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238250"/>
            <a:ext cx="76200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D012AF-BF7E-41CB-A4B0-EC3AFBEF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409700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NULL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498A39-0163-486E-A03A-ED6FEBFA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790700"/>
            <a:ext cx="2933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Valor desconhecido ou não aplicável. Não é zero nem texto vazio.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83C12D-29AB-4E22-92E7-CA9D8727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38250"/>
            <a:ext cx="333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B4BAC8-4A22-4C3F-AADF-2F8CFCCC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38250"/>
            <a:ext cx="76200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08B56F-CACC-4B81-B3DB-706BBF06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409700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Restrições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8F1B31-B198-4A4C-A4D3-FC2CD21F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90700"/>
            <a:ext cx="2933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Obrigatório, único e valor por omissão ajudam a proteger o domínio.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57A24A-5995-4848-9D86-2A260418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71875"/>
            <a:ext cx="8001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FA3594-0AD9-4CDE-9B1D-EF91E716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71875"/>
            <a:ext cx="8001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269D28-951E-4FC9-AF65-0AD692B0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619500"/>
            <a:ext cx="777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METADADOS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E0050E-6154-4CB9-92A5-EBE03BE1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933825"/>
            <a:ext cx="798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0551AD-52F4-406E-9907-4E59103E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962400"/>
            <a:ext cx="7772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utilizador_id  · INT · obrigatório · único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6DF920-04FA-4797-89D0-2A297F30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257675"/>
            <a:ext cx="798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B08458-C50A-45E1-B53B-11F9E017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286250"/>
            <a:ext cx="7772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email · VARCHAR(150) · obrigatório · único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E58019-A3D5-49C0-913B-DC079A6B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581525"/>
            <a:ext cx="798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0C0C2A-A1E3-49A7-835A-C910C405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610100"/>
            <a:ext cx="7772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estado · {ativo, inativo, suspenso} · por omissão: ativo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6DB6B0-4EA7-49DE-BFFC-C5C1D015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6652289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690483-A495-43CC-8409-93D48AF4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4AA8AB-0C3E-4D54-A7EE-97A65C5C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8C4F35-7017-4962-8A39-A25BCB24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D7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D7D5"/>
                </a:solidFill>
                <a:latin typeface="Aptos"/>
                <a:ea typeface="Aptos"/>
                <a:cs typeface="Aptos"/>
              </a:rPr>
              <a:t>MODELO RELACIONAL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261DC7-F670-43B8-B7BB-98D5D030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Primeiro: uma chave primária simples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140A11-A7A3-457D-9D63-3810A798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5524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C796E4-EED7-4280-859B-777D4A3C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5619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9F8032-13C9-48F6-BF84-1A408625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5619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E33700-5124-4096-BE3F-6E9F704B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76375"/>
            <a:ext cx="539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ALUNO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22E284-5A7F-4DBD-9F1D-4E02A568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790700"/>
            <a:ext cx="560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93C0C1-5CC0-4B03-BE77-95EAF436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19275"/>
            <a:ext cx="5391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104321 · Ana · ana@example.test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B6112D-31E9-4957-A9ED-1A672094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14550"/>
            <a:ext cx="560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8074A6-8D9B-464F-864A-D74D915A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43125"/>
            <a:ext cx="5391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104587 · Bruno · bruno@example.test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89F4A5-84CF-4C76-889D-ABC34985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438400"/>
            <a:ext cx="560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30EA50-46EA-4F6F-A7E8-C8598B02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66975"/>
            <a:ext cx="5391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105102 · Carla · carla@example.test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5E3ECD-91AD-460F-84C8-5EA06E29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2400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79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2B134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2B134"/>
                </a:solidFill>
                <a:latin typeface="Aptos"/>
                <a:ea typeface="Aptos"/>
                <a:cs typeface="Aptos"/>
              </a:rPr>
              <a:t>número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FC247F-8BA6-4566-A2E2-1A5B0780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PRIMARY KEY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2CE8F8-4500-4D6A-AB98-EB634B43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14625"/>
            <a:ext cx="3619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É único, obrigatório e estável. Passa a ser a identidade usada por outras tabelas para cruzar informação.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6D38EC-F6D5-4DFC-8324-BF66F5DE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19625"/>
            <a:ext cx="3619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B9C30B-4C21-4C9A-AEE8-12187A1F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7910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PK ≠ apenas UNIQUE NOT NULL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9F2C04-0D8E-4834-9F4D-27FB68B1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1244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 PK tem o papel de identidade.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43F840-C678-4ADA-977A-CFA88803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3715147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89F5B7-921D-4E41-B2E4-0A3C45F3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4406E9-1632-46F1-9817-25FBE0A0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07F0FA-86F7-4F5F-8AEC-57541D20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D7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D7D5"/>
                </a:solidFill>
                <a:latin typeface="Aptos"/>
                <a:ea typeface="Aptos"/>
                <a:cs typeface="Aptos"/>
              </a:rPr>
              <a:t>MODELO RELACIONAL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334E0C-E18B-4FC1-BFAE-0311E70F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ID ou email: como escolher?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A526F-905C-4EAE-9AAD-CAC74EBF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5524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7905D-273E-40F3-9DBE-671033F7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33E395-9E7F-4E66-80B1-A4561A2E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144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Estabilidade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9C7A5E-3076-4E2B-83C8-3CAB0976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3144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36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8365"/>
                </a:solidFill>
                <a:latin typeface="Aptos"/>
                <a:ea typeface="Aptos"/>
                <a:cs typeface="Aptos"/>
              </a:rPr>
              <a:t>ID: não muda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B58CA6-6EBC-4D24-9739-6D124B1B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144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43D4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43D4D"/>
                </a:solidFill>
                <a:latin typeface="Aptos"/>
                <a:ea typeface="Aptos"/>
                <a:cs typeface="Aptos"/>
              </a:rPr>
              <a:t>Email: pode mudar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500488-3715-49B6-9C26-F8869794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10858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C91A61-506A-4FF9-BDF2-21004011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812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Tamanho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B79EF9-298F-47ED-8C7E-C2B9036B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812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36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8365"/>
                </a:solidFill>
                <a:latin typeface="Aptos"/>
                <a:ea typeface="Aptos"/>
                <a:cs typeface="Aptos"/>
              </a:rPr>
              <a:t>ID: curto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C77AE7-741F-4F0E-B3F0-08A35460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812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43D4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43D4D"/>
                </a:solidFill>
                <a:latin typeface="Aptos"/>
                <a:ea typeface="Aptos"/>
                <a:cs typeface="Aptos"/>
              </a:rPr>
              <a:t>Email: mais longo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7E1889-3044-450F-9C48-A31113CC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0858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4976E8-5C4B-4D65-B31B-D3364F89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Privacidade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F31629-2DB2-4774-BAD3-74437738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479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36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8365"/>
                </a:solidFill>
                <a:latin typeface="Aptos"/>
                <a:ea typeface="Aptos"/>
                <a:cs typeface="Aptos"/>
              </a:rPr>
              <a:t>ID: neutro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5D5C8B-FF4E-461B-83E3-404DF9D1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479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43D4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43D4D"/>
                </a:solidFill>
                <a:latin typeface="Aptos"/>
                <a:ea typeface="Aptos"/>
                <a:cs typeface="Aptos"/>
              </a:rPr>
              <a:t>Email: dado pessoal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31D3AD-BD8F-4BFA-99E5-B53BCDB4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2AF896-03A4-410E-9377-7C114F14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Memorização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B01565-D9AA-4C2C-966A-7393B2A6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3147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36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8365"/>
                </a:solidFill>
                <a:latin typeface="Aptos"/>
                <a:ea typeface="Aptos"/>
                <a:cs typeface="Aptos"/>
              </a:rPr>
              <a:t>ID: não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F29598-23B1-47B4-89DC-7419E307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147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36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8365"/>
                </a:solidFill>
                <a:latin typeface="Aptos"/>
                <a:ea typeface="Aptos"/>
                <a:cs typeface="Aptos"/>
              </a:rPr>
              <a:t>Email: sim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53395B-49B9-4506-B6E4-8C389350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10858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EA49CA-EBDF-4402-842B-D36E2F5D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Uso nas relações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F07D23-3858-4F8A-93C1-59FFFB38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814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36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8365"/>
                </a:solidFill>
                <a:latin typeface="Aptos"/>
                <a:ea typeface="Aptos"/>
                <a:cs typeface="Aptos"/>
              </a:rPr>
              <a:t>ID: simples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156856-F6A1-45D0-ABAF-9DC2A654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814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43D4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43D4D"/>
                </a:solidFill>
                <a:latin typeface="Aptos"/>
                <a:ea typeface="Aptos"/>
                <a:cs typeface="Aptos"/>
              </a:rPr>
              <a:t>Email: repetido nas FK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AAF5FB-53C6-45A4-96A9-BC8826D0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10858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3C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B71819-AB5B-45E0-8E60-E12A5E6B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53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Recomendação habitual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C23D91-E594-4CF9-8F6E-48C79FBF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387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6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ID inteiro gerado como PRIMARY KEY; email como UNIQUE NOT NULL. Um identificador do sistema não precisa de ser memorável.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E7466A-3007-4DEA-AAD5-60223215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1934965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34029A-D73D-4ACA-A425-228BD501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8C56AC-A1D8-492D-9BD9-D2B1D9EB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E2CA2-6585-4BE1-87AA-1DD4A15A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D7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D7D5"/>
                </a:solidFill>
                <a:latin typeface="Aptos"/>
                <a:ea typeface="Aptos"/>
                <a:cs typeface="Aptos"/>
              </a:rPr>
              <a:t>MODELO RELACIONAL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CA4E31-BC83-43F8-96F7-4DDA069B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Quando um campo não chega: chave composta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C495F6-41EB-465D-BDCE-6E3E3F80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5524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44F2ED-AC02-4A20-AC09-478036B7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524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71638-913C-486C-BF17-CE9870B0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524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05AD84-F7FF-46CB-88DF-8ECB5C17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529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QUARTO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20538F-B4F6-44B9-BC39-3127A8FE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790700"/>
            <a:ext cx="550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CC9871-AFC3-4C22-A97F-5B2A21D0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19275"/>
            <a:ext cx="5295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Sol · 101 · Duplo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9BF63A-81E4-46CB-A96B-85881695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114550"/>
            <a:ext cx="550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432AFF-D18C-4397-90CD-DB8C4446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5295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Sol · 102 · Single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8D04C9-5929-42CD-96AD-00E6AAA2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438400"/>
            <a:ext cx="550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F3532E-C3CA-4F49-95DB-CD6C008E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66975"/>
            <a:ext cx="5295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Mar · 101 · Duplo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D28800-8C5C-42B3-9949-2C596738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333500"/>
            <a:ext cx="4095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32B4C6-7279-4CD0-AD98-0D0B479A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333500"/>
            <a:ext cx="76200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3D4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7328DA-1BC0-4B68-86F4-5E357594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504950"/>
            <a:ext cx="3695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Apenas hotel?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C47EE1-3D4B-42C1-B5FE-88A198EE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885950"/>
            <a:ext cx="3695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Não. Sol repete-se.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016973-DDA0-4155-AA3B-72A5E8C9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619375"/>
            <a:ext cx="4095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CDD138-08E9-4121-AED5-5DEEB033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619375"/>
            <a:ext cx="76200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3D4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AD67E1-EC97-4CA2-960B-FA1C1E10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790825"/>
            <a:ext cx="3695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Apenas quarto?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DE7D3D-858D-4BE5-9AE1-89DF5041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171825"/>
            <a:ext cx="3695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Não. 101 repete-se.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11345E-A207-4B77-841C-2D4B8CC5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905250"/>
            <a:ext cx="4095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300801-8EFB-4457-9127-760978B0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905250"/>
            <a:ext cx="76200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6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03CBF1-14F4-4F80-9D8E-77EE1EC8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076700"/>
            <a:ext cx="3695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Hotel + quarto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9E3363-D328-47BA-8CAC-7A395C10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457700"/>
            <a:ext cx="3695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Sim. Cada combinação é única e mínima.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B3489E-4BFF-42FA-B31E-D8BCAFDB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Uma chave primária composta continua a ser uma única chave.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66009C-9040-4E87-9451-BB61AB20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8638315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584BE8-168D-43AF-A0A8-3DF9C024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7A425E-F0EE-4FDE-BDDA-4782E287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98B056-27E3-4994-A296-45E000C1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D7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D7D5"/>
                </a:solidFill>
                <a:latin typeface="Aptos"/>
                <a:ea typeface="Aptos"/>
                <a:cs typeface="Aptos"/>
              </a:rPr>
              <a:t>MODELO RELACIONAL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762F29-46BA-4796-9DC6-9A942C97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Quando não existe uma boa chave natural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B47217-D885-45B3-B934-DF9FA94A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5524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572562-6843-47E9-8D25-8BD0EA47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CADEIRA FÍSICA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F745BE-4A6A-4D10-B518-F887AD39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476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4710FE-7819-4B9F-9D9D-AD715F29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3D4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0A2BD7-6083-44AD-A8BB-F3AFE7F4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Fotografia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E01BB0-E07B-4994-81A5-4821E72C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2076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Pesada e difícil de comparar.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094C5F-9876-4C4E-927B-05E9CE7A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14500"/>
            <a:ext cx="2476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44E0A9-43B5-492E-A48F-870B0AB5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1450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3D4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2BD954-2019-45C8-AE53-4EBC12C5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88595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Riscos e manchas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5434CD-822D-429D-BFCD-85ED4EC8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76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Subjetivos, mutáveis e irrelevantes.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487B8F-042C-4DE7-AC9B-16DF6E5D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14500"/>
            <a:ext cx="2476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0B9CED-0724-4A9E-8706-E38F899D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1450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3D4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0DDD28-8D98-43A8-A388-983E0488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8595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Sala + posição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D308D7-4C5B-4443-BF6C-58EC03B5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66950"/>
            <a:ext cx="2076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Deixa de funcionar quando a cadeira muda.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B35AC6-1437-4669-915D-CDBDE4D2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1450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A023AE-F4E3-49FE-9D2A-EDD5422A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1450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6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F9E252-9907-4798-8F0E-F9FC0DF8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8595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cadeira_id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7A1E99-49A8-4742-B1F7-D68EF370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66950"/>
            <a:ext cx="2457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Curto, estável e independente.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477A74-9E32-4950-A286-274BA5CC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C09475-E43F-4BFD-8CF8-16A4052E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48125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795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Criamos uma chave artificial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4C93FD-3668-43DB-9CA1-A9AFB412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29125"/>
            <a:ext cx="800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Não precisamos de guardar características inúteis apenas para distinguir registos.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7EC308-2AC3-487D-8012-4A17CA9A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8525108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965F17-1FDD-4E48-9493-1333A513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8FB18C-FAC4-40F8-8F9F-0024EF72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0B4832-D512-42B0-968F-E346FAED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D7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D7D5"/>
                </a:solidFill>
                <a:latin typeface="Aptos"/>
                <a:ea typeface="Aptos"/>
                <a:cs typeface="Aptos"/>
              </a:rPr>
              <a:t>MODELO RELACIONAL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97160-B61E-4A0A-A802-7BAB4521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chave estrangeira liga duas tabelas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821A7C-E36D-4A81-87AE-B7056C51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5524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D0ED3A-1FF7-4C5E-B9D8-9F57EB4E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4000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9F04BC-1766-4333-BFDD-454BA63A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4000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6803A0-A022-4D3E-B99C-EF0F2A9F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3771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UTILIZADOR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E5E0B4-5E87-4D86-AE3C-8FB0E410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933575"/>
            <a:ext cx="3981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4FF536-8C24-4E16-8554-76CBBC6B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3771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101 · Ana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B10FAA-2F3C-400E-96EE-26795EDF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257425"/>
            <a:ext cx="3981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B61E87-DCB9-46B7-8EF6-641C95D8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3771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102 · Beatriz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8B7CBE-60A6-4599-A959-C732A98A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81125"/>
            <a:ext cx="4000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812173-D22E-43A1-A1F6-994E4064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81125"/>
            <a:ext cx="4000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A52F1D-C867-4AB0-A3AA-207F2DCA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428750"/>
            <a:ext cx="3771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D2B09F-093C-4683-90B5-D482086B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1743075"/>
            <a:ext cx="3981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C9F081-4E52-4B8D-B13C-A0D15BED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771650"/>
            <a:ext cx="3771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501 · utilizador 101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3FEF04-510F-4BE5-B6B1-B061EB93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066925"/>
            <a:ext cx="3981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806851-DC1B-420E-AF23-CC709B43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95500"/>
            <a:ext cx="3771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502 · utilizador 101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A0BC0C-72D4-4958-AD90-0C6B9560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390775"/>
            <a:ext cx="3981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E32B47-DE8A-4278-B99A-52350390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19350"/>
            <a:ext cx="3771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503 · utilizador 102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9B2206-4B50-442A-8B0A-5A93FA0A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57500"/>
            <a:ext cx="20955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65B68F-4BA6-49CB-950A-FAF691EB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38125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2B13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B134"/>
                </a:solidFill>
                <a:latin typeface="Aptos"/>
                <a:ea typeface="Aptos"/>
                <a:cs typeface="Aptos"/>
              </a:rPr>
              <a:t>1 → 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0E0692-BDF0-42C3-A780-3BF6A747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1–N = um utilizador pode ter muitos posts; cada post referencia um único utilizador.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751523-A4F6-4078-9591-AA70EF97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95875"/>
            <a:ext cx="914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POST.utilizador_id só aceita valores existentes em UTILIZADOR.utilizador_id: neste momento, 101 ou 102.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408491-FC50-474F-96EF-AC69722D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9370506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46AE51-430D-4628-A93A-81C6455A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12F89F-E60E-4E94-8567-60AC121F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795BA5-65D4-4B82-A4E0-D860321D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D7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D7D5"/>
                </a:solidFill>
                <a:latin typeface="Aptos"/>
                <a:ea typeface="Aptos"/>
                <a:cs typeface="Aptos"/>
              </a:rPr>
              <a:t>MODELO RELACIONAL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D4A684-DC9E-4543-B160-F1BACCCE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FK também define valores válidos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B99868-3138-432F-95CF-26BA6DAF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5524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3DA860-71CC-4B34-AF11-208ECEAD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50482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6C9029-9583-4024-A57A-270736F1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76200" cy="3286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C712E9-AD0B-4502-A5A9-83BD12C2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09700"/>
            <a:ext cx="464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PAÍS → tabela + FK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179125-9E9F-43FA-93BC-A07D0E0F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46482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• Evita Portugal / PT / portugal</a:t>
            </a:r>
          </a:p>
          <a:p xmlns:a="http://schemas.openxmlformats.org/drawingml/2006/main">
            <a:pPr algn="l">
              <a:defRPr sz="1125" b="0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• Permite código ISO, região e outros dados</a:t>
            </a:r>
          </a:p>
          <a:p xmlns:a="http://schemas.openxmlformats.org/drawingml/2006/main">
            <a:pPr algn="l">
              <a:defRPr sz="1125" b="0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• O administrador pode gerir os países aceites</a:t>
            </a:r>
          </a:p>
          <a:p xmlns:a="http://schemas.openxmlformats.org/drawingml/2006/main">
            <a:pPr algn="l">
              <a:defRPr sz="1125" b="0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• Garante estatísticas coerentes por país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D9C7CC-ABA6-4D8F-B444-B29E1A8A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38250"/>
            <a:ext cx="50482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FAFF3C-FF2E-43BB-A0BA-378CE555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38250"/>
            <a:ext cx="76200" cy="3286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F237AA-EF77-4031-AEEE-245815A5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09700"/>
            <a:ext cx="464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ESTADO CIVIL → lista fixa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AC62E5-541A-4C63-8DF5-409183F3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90700"/>
            <a:ext cx="46482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• Poucos valores</a:t>
            </a:r>
          </a:p>
          <a:p xmlns:a="http://schemas.openxmlformats.org/drawingml/2006/main">
            <a:pPr algn="l">
              <a:defRPr sz="1125" b="0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• Normalmente não são geridos pelo utilizador</a:t>
            </a:r>
          </a:p>
          <a:p xmlns:a="http://schemas.openxmlformats.org/drawingml/2006/main">
            <a:pPr algn="l">
              <a:defRPr sz="1125" b="0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• CHECK ou ENUM pode ser suficiente</a:t>
            </a:r>
          </a:p>
          <a:p xmlns:a="http://schemas.openxmlformats.org/drawingml/2006/main">
            <a:pPr algn="l">
              <a:defRPr sz="1125" b="0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• Uma tabela só compensa se houver metadados, traduções ou regras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A11388-8C86-4CF7-8258-E394A990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Valores com dados próprios ou gestão dinâmica? Tabela + FK. Poucos valores fechados e estáveis? Lista predefinida.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7DB073-3E8D-40DD-8C02-7C7139F1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157264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953EFFF-9763-4F5E-A367-6D04A932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737BB0-38C6-4011-B2A4-D5088C51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0E505B-9EC2-4C48-AB91-4E5FDE60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D7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D7D5"/>
                </a:solidFill>
                <a:latin typeface="Aptos"/>
                <a:ea typeface="Aptos"/>
                <a:cs typeface="Aptos"/>
              </a:rPr>
              <a:t>MODELO RELACIONAL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06AD27-A685-45E7-B9F6-B115CB9C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UPDATE: uma alteração num lado exige coerência no outro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AD17D8-5249-49AD-ACAA-AB4B0E5F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5524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08CAF4-5F7C-4364-9945-86DAD3C2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2857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29B95B-9ADC-4718-8915-E94A4308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2857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4FCEC6-B077-4422-A7B5-8317D0A8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262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UTILIZADOR · DEPOIS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6F1F7C-EB5B-4D09-9B2A-2AB84EDD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743075"/>
            <a:ext cx="2838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4065A6-884A-4916-BF2C-B0DD6311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2628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110 · Ana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6058DB-F8B0-4161-92E4-26C0E2C1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1906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43D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43D4D"/>
                </a:solidFill>
                <a:latin typeface="Aptos"/>
                <a:ea typeface="Aptos"/>
                <a:cs typeface="Aptos"/>
              </a:rPr>
              <a:t>Sem proteção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50B270-75B4-4F89-A833-994B3F1F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71625"/>
            <a:ext cx="3333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D6378E-AC6F-4CA6-A8AB-A851B4B2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71625"/>
            <a:ext cx="3333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72BE29-1ABB-41FD-AE11-FC8DDAE7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19250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812CDB-78EA-4E8C-BB08-4C4044CC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62150"/>
            <a:ext cx="3105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501 · utilizador 101 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5DD0CC-88B0-4521-AA4A-491A9C60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86000"/>
            <a:ext cx="3105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502 · utilizador 101 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A4B1D0-831A-478D-A589-A21FC718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46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3D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43D4D"/>
                </a:solidFill>
                <a:latin typeface="Aptos"/>
                <a:ea typeface="Aptos"/>
                <a:cs typeface="Aptos"/>
              </a:rPr>
              <a:t>Não existe utilizador 101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F7FBA4-316C-47C6-A721-DDBD3B35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1906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836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8365"/>
                </a:solidFill>
                <a:latin typeface="Aptos"/>
                <a:ea typeface="Aptos"/>
                <a:cs typeface="Aptos"/>
              </a:rPr>
              <a:t>CASCADE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23080E-B169-4348-8A0D-250775A0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71625"/>
            <a:ext cx="3333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DE0B9D-E3A8-47D8-B34A-5917917D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71625"/>
            <a:ext cx="3333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EA606E-EE31-44F9-8921-296E9108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19250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4602D0-3B9C-42F5-AA23-E6686014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1933575"/>
            <a:ext cx="3314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642D4A-C809-43A3-9E87-62E1BD49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62150"/>
            <a:ext cx="3105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501 · utilizador 110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F6155D-F31C-4F75-B6C4-2FB30ACE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257425"/>
            <a:ext cx="3314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3284DA-4B7C-4097-9492-A4453C8F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86000"/>
            <a:ext cx="3105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502 · utilizador 110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E6C083-E3AF-47A9-960E-18FEDD94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146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36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8365"/>
                </a:solidFill>
                <a:latin typeface="Aptos"/>
                <a:ea typeface="Aptos"/>
                <a:cs typeface="Aptos"/>
              </a:rPr>
              <a:t>A alteração propaga-se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569A12-C8FB-4CFB-816A-025F746C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3143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756C80-B923-4A18-AA24-3F9BEE30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76200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65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856AD4-10E8-4314-B07F-2D8988BA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8145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UPDATE CASCADE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9C82F7-C24D-4257-A66B-0183BBA2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62450"/>
            <a:ext cx="2743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Muda 101 para 110 em todas as referências.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74B824-EEB2-49BE-81E5-E251C52C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810000"/>
            <a:ext cx="3143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93E4FC-0FEE-41FB-9217-5F65D112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810000"/>
            <a:ext cx="76200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D8F03B-F619-4E00-BA52-4F93985C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98145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UPDATE RESTRICT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FF7CD1-AF1D-4F95-8912-74E1310F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362450"/>
            <a:ext cx="2743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Recusa mudar 101 enquanto houver referências.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29632A-F80B-438D-B297-4E444A1D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10000"/>
            <a:ext cx="3143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222B84-2668-4F69-BB01-24F0AC67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10000"/>
            <a:ext cx="76200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23473C-A451-42BB-A066-8BB977AD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8145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UPDATE SET NULL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602495-F998-4363-A959-55B0992F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62450"/>
            <a:ext cx="2743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Muda as referências para NULL; perde-se a associação.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41BF08-38BC-443A-9E95-4F7FFB3D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9998359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E505859-641B-4884-9725-169E2D00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E74CD0-A4C5-4B0C-B4BD-A85EF8F0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7FD525-91FF-4745-900A-950CC1D6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D7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D7D5"/>
                </a:solidFill>
                <a:latin typeface="Aptos"/>
                <a:ea typeface="Aptos"/>
                <a:cs typeface="Aptos"/>
              </a:rPr>
              <a:t>MODELO RELACIONAL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943BA0-9A8E-435E-94ED-2DD45DA4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DELETE: eliminar a origem obriga a decidir o destino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7427F6-DAFE-48E0-9994-5BA0BAC6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5524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8BA7CC-4091-480D-9B89-85E38396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95BC7D-061A-4E5B-977C-BC7B2A50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2381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83CD48-3942-428B-90AC-3A32812F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42875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UTILIZADOR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E507BE-0EC5-478C-B29C-CB4614C6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71650"/>
            <a:ext cx="2152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101 · eliminado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3A030E-8FCC-450A-A7DF-D714F5CC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190625"/>
            <a:ext cx="2476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577320-CF48-4E70-A5B7-E9DF5965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190625"/>
            <a:ext cx="76200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3D4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AB013F-C0B8-4B70-B552-D4088C8C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36207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CASCADE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C6F15E-B662-49EC-B710-10E07F59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43075"/>
            <a:ext cx="2076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Elimina também os posts 501 e 502.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E7BA7E-79FC-4D66-84B8-D0A6664E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190625"/>
            <a:ext cx="2476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1B3364-3732-4C56-B0C1-E19BA598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190625"/>
            <a:ext cx="76200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82CD45-3876-42E4-B91B-27D21C87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36207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RESTRICT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9F96A4-ED47-4B45-BE87-BC38267A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743075"/>
            <a:ext cx="2076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Recusa eliminar o utilizador 101.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AC40A1-4AD0-4CDC-B9F3-A25BA03A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190625"/>
            <a:ext cx="2476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2DEBDC-8DDB-47CC-B28A-DEE1A11C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190625"/>
            <a:ext cx="76200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2CE697-9A5A-4A74-A6CE-F8FD0C60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36207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SET NULL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6403C7-74B0-4708-811E-65A99C8A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743075"/>
            <a:ext cx="2076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080"/>
                </a:solidFill>
                <a:latin typeface="Aptos"/>
                <a:ea typeface="Aptos"/>
                <a:cs typeface="Aptos"/>
              </a:rPr>
              <a:t>Mantém os posts, agora sem autor.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AF9739-B32A-44BE-B6FD-8FAFBFAA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86125"/>
            <a:ext cx="2476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EF8BB3-174B-4D22-BC91-6A753920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86125"/>
            <a:ext cx="2476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89ABC7-E85D-4D9E-93CF-C9E3996A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337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BB9628-6ACF-40A0-924B-512D4150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766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501 · eliminado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4CCF35-F23E-4569-AA51-3FB85403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0005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502 · eliminado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C49EA2-A3C5-4389-9073-B7575452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286125"/>
            <a:ext cx="2476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364F4D-74CB-4BE9-A143-8101C0FD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286125"/>
            <a:ext cx="2476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A1C930-8014-4CD1-BF38-7A5718D6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3337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RESULTADO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0784F0-899B-411B-B622-E42FA163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6766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101 · Ana preservada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5E9850-4706-4FBB-800C-364CFE2A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0005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Posts preservados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8D04FB-C72B-41C8-A3B8-DD905D7A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86125"/>
            <a:ext cx="2476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BD9FC0-9A97-43E5-B4A8-281D11FB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86125"/>
            <a:ext cx="2476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9755FA-9CBD-4207-9DF7-503037EE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337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E7C0E5-EBCE-4FCE-B0FE-E2F31C50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648075"/>
            <a:ext cx="2457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CEA51B-B3A8-46F4-920E-68E9A2C9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766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501 · utilizador NULL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A90BFE-6EB5-4B7B-B9BF-980F6444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971925"/>
            <a:ext cx="2457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4F1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0E362D-4AFA-45F2-B68C-6BADC0A0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005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502 · utilizador NULL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A931DA-1668-4C38-9CD2-63387EB7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81625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782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Sem uma destas regras, os posts poderiam ficar a apontar para um utilizador inexistente.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C8595D-6C3B-4668-AAAF-36512311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540294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653C84-56A4-4998-B868-93F996C3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48AF78-C378-4301-AC04-9C27B4D2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262A5F-4A58-4545-AD3A-7ED3BCDC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AD7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D7D5"/>
                </a:solidFill>
                <a:latin typeface="Aptos"/>
                <a:ea typeface="Aptos"/>
                <a:cs typeface="Aptos"/>
              </a:rPr>
              <a:t>MODELO RELACIONAL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9CFC7F-85C3-4DE9-809C-04370940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 modelo relacional em cinco ideias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E261D8-098E-4AA8-83B4-69B4B221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23850"/>
            <a:ext cx="5524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A93C59-45AC-4B81-8966-590C5647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906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583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2B134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2B134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5F8E19-949A-40EB-BBC9-CE3F25BC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906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ENTIDADE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95F6D4-87C1-4780-9CB6-4022573E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1715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Uma tabela representa uma entidade.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6B3BCE-8885-4AD9-AB3A-FFAC91F3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583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2B134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2B134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8F2B7D-6AF9-46AA-937B-C4EFD9F7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431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DOMÍNIO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4EB7EC-6F99-4D2C-8645-53334244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240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Cada coluna tem valores válidos.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5A907F-5CB3-42F8-BEE1-C28E0123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956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583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2B134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2B134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EBAE55-B5BF-4FD9-B08D-E41206A4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956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IDENTIDADE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658D40-8039-441F-AE56-E3E0A7FF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765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 chave primária identifica cada linha.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C670F8-DF65-44F7-93CA-ABEC3EA9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481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583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2B134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2B134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1FE965-2233-4B15-90C0-06B3532C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481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RELAÇÃO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4932F6-9CD7-409B-9EE1-32C9F006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290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 chave estrangeira associa tabelas.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3F111D-E452-4E27-A326-DD29FDD0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006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583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2B134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2B134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E30A38-6B8F-4D06-A5D5-3B6CA9C3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COERÊNCIA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2F9E0D-240E-4F2A-A13A-16894359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815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 integridade referencial protege a associação.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6AE54F-347B-4A89-A195-E5E67388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421991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2026-09-07T17:39:05.5440000Z</dcterms:created>
  <dcterms:modified xsi:type="dcterms:W3CDTF">2026-09-07T17:39:05.5440000Z</dcterms:modified>
</coreProperties>
</file>